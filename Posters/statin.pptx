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72" r:id="rId4"/>
  </p:sldMasterIdLst>
  <p:notesMasterIdLst>
    <p:notesMasterId r:id="rId6"/>
  </p:notesMasterIdLst>
  <p:sldIdLst>
    <p:sldId id="263" r:id="rId5"/>
  </p:sldIdLst>
  <p:sldSz cx="438912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2EE"/>
    <a:srgbClr val="BA0C2F"/>
    <a:srgbClr val="F4EE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60"/>
    <p:restoredTop sz="96405"/>
  </p:normalViewPr>
  <p:slideViewPr>
    <p:cSldViewPr snapToGrid="0" snapToObjects="1">
      <p:cViewPr>
        <p:scale>
          <a:sx n="25" d="100"/>
          <a:sy n="25" d="100"/>
        </p:scale>
        <p:origin x="744"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9E8DC1-9069-A048-B105-582BEE9E2346}" type="datetimeFigureOut">
              <a:rPr lang="en-US" smtClean="0"/>
              <a:t>10/8/2025</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64FD27-81C1-E340-BEA4-F439E8E551BC}" type="slidenum">
              <a:rPr lang="en-US" smtClean="0"/>
              <a:t>‹#›</a:t>
            </a:fld>
            <a:endParaRPr lang="en-US"/>
          </a:p>
        </p:txBody>
      </p:sp>
    </p:spTree>
    <p:extLst>
      <p:ext uri="{BB962C8B-B14F-4D97-AF65-F5344CB8AC3E}">
        <p14:creationId xmlns:p14="http://schemas.microsoft.com/office/powerpoint/2010/main" val="3150167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3591562"/>
            <a:ext cx="3291840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5486400" y="11526522"/>
            <a:ext cx="329184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4DA5B7-E8A6-AF44-B101-53FD38A617CF}"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667272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4DA5B7-E8A6-AF44-B101-53FD38A617CF}"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050257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0" y="5471163"/>
            <a:ext cx="3785616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994660" y="14686283"/>
            <a:ext cx="37856160" cy="4800598"/>
          </a:xfrm>
        </p:spPr>
        <p:txBody>
          <a:bodyPr/>
          <a:lstStyle>
            <a:lvl1pPr marL="0" indent="0">
              <a:buNone/>
              <a:defRPr sz="7680">
                <a:solidFill>
                  <a:schemeClr val="tx1">
                    <a:tint val="75000"/>
                  </a:schemeClr>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4DA5B7-E8A6-AF44-B101-53FD38A617CF}"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317317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5842000"/>
            <a:ext cx="1865376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5842000"/>
            <a:ext cx="1865376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4DA5B7-E8A6-AF44-B101-53FD38A617CF}"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249239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168401"/>
            <a:ext cx="3785616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39" y="5379722"/>
            <a:ext cx="18568033"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3023239" y="8016240"/>
            <a:ext cx="18568033"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0" y="5379722"/>
            <a:ext cx="18659477"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22219920" y="8016240"/>
            <a:ext cx="18659477"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4DA5B7-E8A6-AF44-B101-53FD38A617CF}"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30076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4DA5B7-E8A6-AF44-B101-53FD38A617CF}"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3186174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4DA5B7-E8A6-AF44-B101-53FD38A617CF}"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960634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1463040"/>
            <a:ext cx="14156053"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8659477" y="3159762"/>
            <a:ext cx="2221992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9" y="6583680"/>
            <a:ext cx="14156053"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954DA5B7-E8A6-AF44-B101-53FD38A617CF}"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2235725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1463040"/>
            <a:ext cx="14156053"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3159762"/>
            <a:ext cx="2221992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3023239" y="6583680"/>
            <a:ext cx="14156053"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954DA5B7-E8A6-AF44-B101-53FD38A617CF}"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3206103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4DA5B7-E8A6-AF44-B101-53FD38A617CF}"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2810935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0" y="1168400"/>
            <a:ext cx="9464040"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0" y="1168400"/>
            <a:ext cx="27843480"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4DA5B7-E8A6-AF44-B101-53FD38A617CF}"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56C687-0735-7448-8449-51B676A45990}" type="slidenum">
              <a:rPr lang="en-US" smtClean="0"/>
              <a:t>‹#›</a:t>
            </a:fld>
            <a:endParaRPr lang="en-US"/>
          </a:p>
        </p:txBody>
      </p:sp>
    </p:spTree>
    <p:extLst>
      <p:ext uri="{BB962C8B-B14F-4D97-AF65-F5344CB8AC3E}">
        <p14:creationId xmlns:p14="http://schemas.microsoft.com/office/powerpoint/2010/main" val="1391481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168401"/>
            <a:ext cx="3785616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5842000"/>
            <a:ext cx="3785616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20340322"/>
            <a:ext cx="987552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fld id="{954DA5B7-E8A6-AF44-B101-53FD38A617CF}" type="datetimeFigureOut">
              <a:rPr lang="en-US" smtClean="0"/>
              <a:t>10/8/2025</a:t>
            </a:fld>
            <a:endParaRPr lang="en-US"/>
          </a:p>
        </p:txBody>
      </p:sp>
      <p:sp>
        <p:nvSpPr>
          <p:cNvPr id="5" name="Footer Placeholder 4"/>
          <p:cNvSpPr>
            <a:spLocks noGrp="1"/>
          </p:cNvSpPr>
          <p:nvPr>
            <p:ph type="ftr" sz="quarter" idx="3"/>
          </p:nvPr>
        </p:nvSpPr>
        <p:spPr>
          <a:xfrm>
            <a:off x="14538960" y="20340322"/>
            <a:ext cx="1481328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20340322"/>
            <a:ext cx="987552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56C687-0735-7448-8449-51B676A45990}" type="slidenum">
              <a:rPr lang="en-US" smtClean="0"/>
              <a:t>‹#›</a:t>
            </a:fld>
            <a:endParaRPr lang="en-US"/>
          </a:p>
        </p:txBody>
      </p:sp>
    </p:spTree>
    <p:extLst>
      <p:ext uri="{BB962C8B-B14F-4D97-AF65-F5344CB8AC3E}">
        <p14:creationId xmlns:p14="http://schemas.microsoft.com/office/powerpoint/2010/main" val="35693861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2EE"/>
        </a:solidFill>
        <a:effectLst/>
      </p:bgPr>
    </p:bg>
    <p:spTree>
      <p:nvGrpSpPr>
        <p:cNvPr id="1" name="">
          <a:extLst>
            <a:ext uri="{FF2B5EF4-FFF2-40B4-BE49-F238E27FC236}">
              <a16:creationId xmlns:a16="http://schemas.microsoft.com/office/drawing/2014/main" id="{38B6B47B-EA51-5837-ECE3-2CAA3CDC68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5BD557-23D6-AFF9-BA0A-8F1F6BF21B2B}"/>
              </a:ext>
            </a:extLst>
          </p:cNvPr>
          <p:cNvSpPr/>
          <p:nvPr/>
        </p:nvSpPr>
        <p:spPr>
          <a:xfrm>
            <a:off x="578030" y="582628"/>
            <a:ext cx="42735140" cy="4247648"/>
          </a:xfrm>
          <a:prstGeom prst="rect">
            <a:avLst/>
          </a:prstGeom>
          <a:solidFill>
            <a:srgbClr val="BA0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902334-AD72-78E6-4960-6C4957998699}"/>
              </a:ext>
            </a:extLst>
          </p:cNvPr>
          <p:cNvSpPr txBox="1"/>
          <p:nvPr/>
        </p:nvSpPr>
        <p:spPr>
          <a:xfrm>
            <a:off x="8070761" y="976066"/>
            <a:ext cx="29231421" cy="1938992"/>
          </a:xfrm>
          <a:prstGeom prst="rect">
            <a:avLst/>
          </a:prstGeom>
          <a:noFill/>
        </p:spPr>
        <p:txBody>
          <a:bodyPr wrap="square" rtlCol="0">
            <a:spAutoFit/>
          </a:bodyPr>
          <a:lstStyle/>
          <a:p>
            <a:pPr algn="ctr"/>
            <a:r>
              <a:rPr lang="en-US" sz="6000" dirty="0">
                <a:solidFill>
                  <a:schemeClr val="bg1"/>
                </a:solidFill>
              </a:rPr>
              <a:t>Lipid-Lowering Therapy Use Among Cancer Survivors Undergoing Lung Cancer Screening:       A Cross-Sectional Analysis</a:t>
            </a:r>
            <a:endParaRPr lang="en-US" sz="6000" b="1" dirty="0">
              <a:solidFill>
                <a:schemeClr val="bg1"/>
              </a:solidFill>
              <a:latin typeface="Calibri" panose="020F0502020204030204" pitchFamily="34" charset="0"/>
              <a:ea typeface="Source Sans Pro" panose="020B0503030403020204" pitchFamily="34" charset="0"/>
              <a:cs typeface="Open Sans Semibold"/>
            </a:endParaRPr>
          </a:p>
        </p:txBody>
      </p:sp>
      <p:pic>
        <p:nvPicPr>
          <p:cNvPr id="5" name="Picture 4" descr="A white letter on a black background&#10;&#10;Description automatically generated">
            <a:extLst>
              <a:ext uri="{FF2B5EF4-FFF2-40B4-BE49-F238E27FC236}">
                <a16:creationId xmlns:a16="http://schemas.microsoft.com/office/drawing/2014/main" id="{DFA48EE8-36F8-99E6-CB1D-8CD76DE35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0609" y="3561572"/>
            <a:ext cx="6475059" cy="883590"/>
          </a:xfrm>
          <a:prstGeom prst="rect">
            <a:avLst/>
          </a:prstGeom>
        </p:spPr>
      </p:pic>
      <p:sp>
        <p:nvSpPr>
          <p:cNvPr id="7" name="Rectangle 6">
            <a:extLst>
              <a:ext uri="{FF2B5EF4-FFF2-40B4-BE49-F238E27FC236}">
                <a16:creationId xmlns:a16="http://schemas.microsoft.com/office/drawing/2014/main" id="{7CBDDF25-167E-F1C8-1A5A-91133355F314}"/>
              </a:ext>
            </a:extLst>
          </p:cNvPr>
          <p:cNvSpPr/>
          <p:nvPr/>
        </p:nvSpPr>
        <p:spPr>
          <a:xfrm>
            <a:off x="584495" y="6417472"/>
            <a:ext cx="13911807" cy="293917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sz="2400" dirty="0"/>
          </a:p>
          <a:p>
            <a:pPr marL="457200" indent="-457200">
              <a:buFont typeface="Arial" panose="020B0604020202020204" pitchFamily="34" charset="0"/>
              <a:buChar char="•"/>
            </a:pPr>
            <a:r>
              <a:rPr lang="en-US" sz="2800" dirty="0"/>
              <a:t>Cardiovascular disease (CVD) causes 56% of non-cancer deaths among cancer survivors, yet lipid-lowering therapy (LLT) remains underutilized. </a:t>
            </a:r>
          </a:p>
          <a:p>
            <a:pPr marL="457200" indent="-457200">
              <a:buFont typeface="Arial" panose="020B0604020202020204" pitchFamily="34" charset="0"/>
              <a:buChar char="•"/>
            </a:pPr>
            <a:r>
              <a:rPr lang="en-US" sz="2800" dirty="0"/>
              <a:t>Lung cancer screening (LCS) populations have dual high-risk profile: heavy smoking exposure and cancer history.</a:t>
            </a:r>
          </a:p>
          <a:p>
            <a:pPr marL="457200" indent="-457200">
              <a:buFont typeface="Arial" panose="020B0604020202020204" pitchFamily="34" charset="0"/>
              <a:buChar char="•"/>
            </a:pPr>
            <a:r>
              <a:rPr lang="en-US" sz="2800" dirty="0"/>
              <a:t>National data show profound disparities: Black patients 48% less likely to be offered statins, rural residents 28% lower use, uninsured 3-4 fold lower odds.</a:t>
            </a:r>
          </a:p>
          <a:p>
            <a:pPr marL="457200" indent="-457200">
              <a:buFont typeface="Arial" panose="020B0604020202020204" pitchFamily="34" charset="0"/>
              <a:buChar char="•"/>
            </a:pPr>
            <a:endParaRPr lang="en-US" sz="2400" dirty="0"/>
          </a:p>
        </p:txBody>
      </p:sp>
      <p:sp>
        <p:nvSpPr>
          <p:cNvPr id="8" name="TextBox 7">
            <a:extLst>
              <a:ext uri="{FF2B5EF4-FFF2-40B4-BE49-F238E27FC236}">
                <a16:creationId xmlns:a16="http://schemas.microsoft.com/office/drawing/2014/main" id="{0B549CF7-185E-7785-94A1-FF9E5012E871}"/>
              </a:ext>
            </a:extLst>
          </p:cNvPr>
          <p:cNvSpPr txBox="1"/>
          <p:nvPr/>
        </p:nvSpPr>
        <p:spPr>
          <a:xfrm>
            <a:off x="578028" y="5401808"/>
            <a:ext cx="13918274" cy="1015663"/>
          </a:xfrm>
          <a:prstGeom prst="rect">
            <a:avLst/>
          </a:prstGeom>
          <a:solidFill>
            <a:schemeClr val="tx2"/>
          </a:solidFill>
          <a:ln>
            <a:noFill/>
          </a:ln>
        </p:spPr>
        <p:txBody>
          <a:bodyPr wrap="square" lIns="457200" tIns="228600" rIns="457200" bIns="228600" rtlCol="0">
            <a:spAutoFit/>
          </a:bodyPr>
          <a:lstStyle/>
          <a:p>
            <a:r>
              <a:rPr lang="en-US" sz="3600" b="1" dirty="0">
                <a:solidFill>
                  <a:schemeClr val="bg1"/>
                </a:solidFill>
                <a:latin typeface="Calibri" panose="020F0502020204030204" pitchFamily="34" charset="0"/>
                <a:ea typeface="Source Sans Pro" panose="020B0503030403020204" pitchFamily="34" charset="0"/>
                <a:cs typeface="Open Sans Semibold"/>
              </a:rPr>
              <a:t>Background</a:t>
            </a:r>
          </a:p>
        </p:txBody>
      </p:sp>
      <p:sp>
        <p:nvSpPr>
          <p:cNvPr id="9" name="Rectangle 8">
            <a:extLst>
              <a:ext uri="{FF2B5EF4-FFF2-40B4-BE49-F238E27FC236}">
                <a16:creationId xmlns:a16="http://schemas.microsoft.com/office/drawing/2014/main" id="{E67E54E9-7814-3240-66FE-F948EA8AF46A}"/>
              </a:ext>
            </a:extLst>
          </p:cNvPr>
          <p:cNvSpPr/>
          <p:nvPr/>
        </p:nvSpPr>
        <p:spPr>
          <a:xfrm>
            <a:off x="596044" y="10394698"/>
            <a:ext cx="13900259" cy="3984816"/>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457200" indent="-457200">
              <a:buFont typeface="Arial" panose="020B0604020202020204" pitchFamily="34" charset="0"/>
              <a:buChar char="•"/>
            </a:pPr>
            <a:r>
              <a:rPr lang="en-US" sz="2800" dirty="0"/>
              <a:t>Cross-sectional study of 7,778 cancer survivors (50–80 years) who underwent lung cancer screening in Barnes- Jewish Healthcare's LCS program between 2015-2023.</a:t>
            </a:r>
          </a:p>
          <a:p>
            <a:pPr marL="457200" indent="-457200">
              <a:buFont typeface="Arial" panose="020B0604020202020204" pitchFamily="34" charset="0"/>
              <a:buChar char="•"/>
            </a:pPr>
            <a:r>
              <a:rPr lang="en-US" sz="2800" dirty="0"/>
              <a:t>Primary outcome was LLT use (statins or statin-substitute) documented in electronic health records.</a:t>
            </a:r>
          </a:p>
          <a:p>
            <a:pPr marL="457200" indent="-457200">
              <a:buFont typeface="Arial" panose="020B0604020202020204" pitchFamily="34" charset="0"/>
              <a:buChar char="•"/>
            </a:pPr>
            <a:r>
              <a:rPr lang="en-US" sz="2800" dirty="0"/>
              <a:t>Associated factors included demographics (age, sex, race), clinical factors (prior ASCVD, cancer type), healthcare access (insurance, rurality via RUCA ) and Area Deprivation Index.</a:t>
            </a:r>
          </a:p>
          <a:p>
            <a:pPr marL="457200" indent="-457200">
              <a:buFont typeface="Arial" panose="020B0604020202020204" pitchFamily="34" charset="0"/>
              <a:buChar char="•"/>
            </a:pPr>
            <a:r>
              <a:rPr lang="en-US" sz="2800" dirty="0"/>
              <a:t>Analysis: Multivariable logistic regression, adjusted for demographics, insurance, smoking, indication, provider; stratified by race &amp; sex.</a:t>
            </a:r>
          </a:p>
        </p:txBody>
      </p:sp>
      <p:sp>
        <p:nvSpPr>
          <p:cNvPr id="10" name="TextBox 9">
            <a:extLst>
              <a:ext uri="{FF2B5EF4-FFF2-40B4-BE49-F238E27FC236}">
                <a16:creationId xmlns:a16="http://schemas.microsoft.com/office/drawing/2014/main" id="{122D2A67-AF7E-5CB3-29C5-2BEB5D700F19}"/>
              </a:ext>
            </a:extLst>
          </p:cNvPr>
          <p:cNvSpPr txBox="1"/>
          <p:nvPr/>
        </p:nvSpPr>
        <p:spPr>
          <a:xfrm>
            <a:off x="556587" y="9367843"/>
            <a:ext cx="13939715" cy="1015663"/>
          </a:xfrm>
          <a:prstGeom prst="rect">
            <a:avLst/>
          </a:prstGeom>
          <a:solidFill>
            <a:schemeClr val="tx2"/>
          </a:solidFill>
          <a:ln>
            <a:noFill/>
          </a:ln>
        </p:spPr>
        <p:txBody>
          <a:bodyPr wrap="square" lIns="457200" tIns="228600" rIns="457200" bIns="228600" rtlCol="0">
            <a:spAutoFit/>
          </a:bodyPr>
          <a:lstStyle/>
          <a:p>
            <a:r>
              <a:rPr lang="en-US" sz="3600" b="1" dirty="0">
                <a:solidFill>
                  <a:schemeClr val="bg1"/>
                </a:solidFill>
                <a:latin typeface="Calibri" panose="020F0502020204030204" pitchFamily="34" charset="0"/>
                <a:ea typeface="Source Sans Pro" panose="020B0503030403020204" pitchFamily="34" charset="0"/>
                <a:cs typeface="Open Sans Semibold"/>
              </a:rPr>
              <a:t>Methods</a:t>
            </a:r>
          </a:p>
        </p:txBody>
      </p:sp>
      <p:sp>
        <p:nvSpPr>
          <p:cNvPr id="12" name="TextBox 11">
            <a:extLst>
              <a:ext uri="{FF2B5EF4-FFF2-40B4-BE49-F238E27FC236}">
                <a16:creationId xmlns:a16="http://schemas.microsoft.com/office/drawing/2014/main" id="{1C0BD4F4-9E0D-A7BB-CB31-CF8C45565A3D}"/>
              </a:ext>
            </a:extLst>
          </p:cNvPr>
          <p:cNvSpPr txBox="1"/>
          <p:nvPr/>
        </p:nvSpPr>
        <p:spPr>
          <a:xfrm>
            <a:off x="14800904" y="5401808"/>
            <a:ext cx="7316001" cy="1015663"/>
          </a:xfrm>
          <a:prstGeom prst="rect">
            <a:avLst/>
          </a:prstGeom>
          <a:solidFill>
            <a:schemeClr val="tx2"/>
          </a:solidFill>
          <a:ln>
            <a:noFill/>
          </a:ln>
        </p:spPr>
        <p:txBody>
          <a:bodyPr wrap="square" lIns="457200" tIns="228600" rIns="457200" bIns="228600" rtlCol="0">
            <a:spAutoFit/>
          </a:bodyPr>
          <a:lstStyle/>
          <a:p>
            <a:r>
              <a:rPr lang="en-US" sz="3600" b="1" dirty="0">
                <a:solidFill>
                  <a:schemeClr val="bg1"/>
                </a:solidFill>
                <a:latin typeface="Calibri" panose="020F0502020204030204" pitchFamily="34" charset="0"/>
                <a:ea typeface="Source Sans Pro" panose="020B0503030403020204" pitchFamily="34" charset="0"/>
                <a:cs typeface="Open Sans Semibold"/>
              </a:rPr>
              <a:t>Results</a:t>
            </a:r>
          </a:p>
        </p:txBody>
      </p:sp>
      <p:sp>
        <p:nvSpPr>
          <p:cNvPr id="13" name="Rectangle 12">
            <a:extLst>
              <a:ext uri="{FF2B5EF4-FFF2-40B4-BE49-F238E27FC236}">
                <a16:creationId xmlns:a16="http://schemas.microsoft.com/office/drawing/2014/main" id="{D4B37D02-9F0F-B43E-DFF5-F56739685F89}"/>
              </a:ext>
            </a:extLst>
          </p:cNvPr>
          <p:cNvSpPr/>
          <p:nvPr/>
        </p:nvSpPr>
        <p:spPr>
          <a:xfrm>
            <a:off x="683151" y="15111934"/>
            <a:ext cx="13753647" cy="6833666"/>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457200" indent="-457200">
              <a:buFont typeface="Arial" panose="020B0604020202020204" pitchFamily="34" charset="0"/>
              <a:buChar char="•"/>
            </a:pPr>
            <a:r>
              <a:rPr lang="en-US" sz="2800" dirty="0"/>
              <a:t>Compared with lung cancer, </a:t>
            </a:r>
            <a:r>
              <a:rPr lang="en-US" sz="2800" b="1" dirty="0"/>
              <a:t>prostate</a:t>
            </a:r>
            <a:r>
              <a:rPr lang="en-US" sz="2800" dirty="0"/>
              <a:t> (AOR = 1.35; 95% CI 1.08–1.71), </a:t>
            </a:r>
            <a:r>
              <a:rPr lang="en-US" sz="2800" b="1" dirty="0"/>
              <a:t>hematologic</a:t>
            </a:r>
            <a:r>
              <a:rPr lang="en-US" sz="2800" dirty="0"/>
              <a:t> (AOR = 1.35; 95% CI 1.03–1.76), and </a:t>
            </a:r>
            <a:r>
              <a:rPr lang="en-US" sz="2800" b="1" dirty="0"/>
              <a:t>other solid</a:t>
            </a:r>
            <a:r>
              <a:rPr lang="en-US" sz="2800" dirty="0"/>
              <a:t> cancers (AOR = 1.23; 95% CI 1.07–1.42) were </a:t>
            </a:r>
            <a:r>
              <a:rPr lang="en-US" sz="2800" b="1" dirty="0"/>
              <a:t>associated with higher LLT use</a:t>
            </a:r>
            <a:r>
              <a:rPr lang="en-US" sz="2800" dirty="0"/>
              <a:t>.</a:t>
            </a:r>
          </a:p>
          <a:p>
            <a:pPr marL="457200" indent="-457200">
              <a:buFont typeface="Arial" panose="020B0604020202020204" pitchFamily="34" charset="0"/>
              <a:buChar char="•"/>
            </a:pPr>
            <a:r>
              <a:rPr lang="en-US" sz="2800" b="1" dirty="0"/>
              <a:t>Race-stratified:</a:t>
            </a:r>
            <a:r>
              <a:rPr lang="en-US" sz="2800" dirty="0"/>
              <a:t> </a:t>
            </a:r>
            <a:r>
              <a:rPr lang="en-US" sz="2800" b="1" dirty="0"/>
              <a:t>Among White patients only</a:t>
            </a:r>
            <a:r>
              <a:rPr lang="en-US" sz="2800" dirty="0"/>
              <a:t>, </a:t>
            </a:r>
            <a:r>
              <a:rPr lang="en-US" sz="2800" b="1" dirty="0"/>
              <a:t>male sex</a:t>
            </a:r>
            <a:r>
              <a:rPr lang="en-US" sz="2800" dirty="0"/>
              <a:t> was associated with higher LLT use (AOR = 1.13; p = 0.036) and </a:t>
            </a:r>
            <a:r>
              <a:rPr lang="en-US" sz="2800" b="1" dirty="0"/>
              <a:t>rural residence</a:t>
            </a:r>
            <a:r>
              <a:rPr lang="en-US" sz="2800" dirty="0"/>
              <a:t> with lower LLT use (AOR = 0.81; p = 0.005); these were </a:t>
            </a:r>
            <a:r>
              <a:rPr lang="en-US" sz="2800" b="1" dirty="0"/>
              <a:t>not significant among Black patients</a:t>
            </a:r>
            <a:r>
              <a:rPr lang="en-US" sz="2800" dirty="0"/>
              <a:t>.</a:t>
            </a:r>
          </a:p>
          <a:p>
            <a:pPr marL="457200" indent="-457200">
              <a:buFont typeface="Arial" panose="020B0604020202020204" pitchFamily="34" charset="0"/>
              <a:buChar char="•"/>
            </a:pPr>
            <a:r>
              <a:rPr lang="en-US" sz="2800" dirty="0"/>
              <a:t>Prior ASCVD was the strongest associated factor (AOR=2.54, p&lt;0.001), followed by age ≥65 years (AOR=1.41, p&lt;0.001).</a:t>
            </a:r>
          </a:p>
          <a:p>
            <a:pPr marL="457200" indent="-457200">
              <a:buFont typeface="Arial" panose="020B0604020202020204" pitchFamily="34" charset="0"/>
              <a:buChar char="•"/>
            </a:pPr>
            <a:r>
              <a:rPr lang="en-US" sz="2800" dirty="0"/>
              <a:t>Contrary to robust national disparities, race showed NO association with LLT use (p=0.601).</a:t>
            </a:r>
          </a:p>
          <a:p>
            <a:pPr marL="457200" indent="-457200">
              <a:buFont typeface="Arial" panose="020B0604020202020204" pitchFamily="34" charset="0"/>
              <a:buChar char="•"/>
            </a:pPr>
            <a:r>
              <a:rPr lang="en-US" sz="2800" dirty="0"/>
              <a:t>Rural residence associated with 29% lower odds of LLT use (AOR=0.71, p&lt;0.001) even after adjusting for all other factors.</a:t>
            </a:r>
          </a:p>
          <a:p>
            <a:pPr marL="457200" indent="-457200">
              <a:buFont typeface="Arial" panose="020B0604020202020204" pitchFamily="34" charset="0"/>
              <a:buChar char="•"/>
            </a:pPr>
            <a:r>
              <a:rPr lang="en-US" sz="2800" dirty="0"/>
              <a:t>Insurance status (p=0.313) and neighborhood deprivation (ADI, p=0.292) showed NO association with LLT use.</a:t>
            </a:r>
          </a:p>
          <a:p>
            <a:endParaRPr lang="en-US" sz="2800" dirty="0"/>
          </a:p>
        </p:txBody>
      </p:sp>
      <p:sp>
        <p:nvSpPr>
          <p:cNvPr id="14" name="TextBox 13">
            <a:extLst>
              <a:ext uri="{FF2B5EF4-FFF2-40B4-BE49-F238E27FC236}">
                <a16:creationId xmlns:a16="http://schemas.microsoft.com/office/drawing/2014/main" id="{F1AF820E-01C4-59C4-16EE-CB3B9EC51369}"/>
              </a:ext>
            </a:extLst>
          </p:cNvPr>
          <p:cNvSpPr txBox="1"/>
          <p:nvPr/>
        </p:nvSpPr>
        <p:spPr>
          <a:xfrm>
            <a:off x="606764" y="14413241"/>
            <a:ext cx="13889539" cy="1015663"/>
          </a:xfrm>
          <a:prstGeom prst="rect">
            <a:avLst/>
          </a:prstGeom>
          <a:solidFill>
            <a:schemeClr val="tx2"/>
          </a:solidFill>
          <a:ln>
            <a:noFill/>
          </a:ln>
        </p:spPr>
        <p:txBody>
          <a:bodyPr wrap="square" lIns="457200" tIns="228600" rIns="457200" bIns="228600" rtlCol="0">
            <a:spAutoFit/>
          </a:bodyPr>
          <a:lstStyle/>
          <a:p>
            <a:r>
              <a:rPr lang="en-US" sz="3600" b="1" dirty="0">
                <a:solidFill>
                  <a:schemeClr val="bg1"/>
                </a:solidFill>
                <a:latin typeface="Calibri" panose="020F0502020204030204" pitchFamily="34" charset="0"/>
                <a:ea typeface="Source Sans Pro" panose="020B0503030403020204" pitchFamily="34" charset="0"/>
                <a:cs typeface="Open Sans Semibold"/>
              </a:rPr>
              <a:t>Results: </a:t>
            </a:r>
            <a:r>
              <a:rPr lang="en-US" sz="3600" dirty="0">
                <a:solidFill>
                  <a:schemeClr val="bg1"/>
                </a:solidFill>
              </a:rPr>
              <a:t>LLT Prevalence and associated factors</a:t>
            </a:r>
            <a:endParaRPr lang="en-US" sz="3600" b="1" dirty="0">
              <a:solidFill>
                <a:schemeClr val="bg1"/>
              </a:solidFill>
              <a:latin typeface="Calibri" panose="020F0502020204030204" pitchFamily="34" charset="0"/>
              <a:ea typeface="Source Sans Pro" panose="020B0503030403020204" pitchFamily="34" charset="0"/>
              <a:cs typeface="Open Sans Semibold"/>
            </a:endParaRPr>
          </a:p>
        </p:txBody>
      </p:sp>
      <p:sp>
        <p:nvSpPr>
          <p:cNvPr id="16" name="Rectangle 15">
            <a:extLst>
              <a:ext uri="{FF2B5EF4-FFF2-40B4-BE49-F238E27FC236}">
                <a16:creationId xmlns:a16="http://schemas.microsoft.com/office/drawing/2014/main" id="{16D9A034-9E5C-60A6-5707-54B33EF56E8B}"/>
              </a:ext>
            </a:extLst>
          </p:cNvPr>
          <p:cNvSpPr/>
          <p:nvPr/>
        </p:nvSpPr>
        <p:spPr>
          <a:xfrm>
            <a:off x="22440101" y="19189882"/>
            <a:ext cx="20899124" cy="2445689"/>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marL="342900" indent="-342900">
              <a:buFont typeface="Arial" panose="020B0604020202020204" pitchFamily="34" charset="0"/>
              <a:buChar char="•"/>
            </a:pPr>
            <a:r>
              <a:rPr lang="en-US" sz="2400" b="1" dirty="0"/>
              <a:t>Lipid-lowering therapy remains underused</a:t>
            </a:r>
            <a:r>
              <a:rPr lang="en-US" sz="2400" dirty="0"/>
              <a:t> among cancer survivors at high cardiovascular risk, even during routine lung cancer screening.</a:t>
            </a:r>
          </a:p>
          <a:p>
            <a:pPr marL="342900" indent="-342900">
              <a:buFont typeface="Arial" panose="020B0604020202020204" pitchFamily="34" charset="0"/>
              <a:buChar char="•"/>
            </a:pPr>
            <a:r>
              <a:rPr lang="en-US" sz="2400" b="1" dirty="0"/>
              <a:t>Rural patients were less likely</a:t>
            </a:r>
            <a:r>
              <a:rPr lang="en-US" sz="2400" dirty="0"/>
              <a:t> to receive therapy, underscoring persistent geographic gaps in preventive care.</a:t>
            </a:r>
          </a:p>
          <a:p>
            <a:pPr marL="342900" indent="-342900">
              <a:buFont typeface="Arial" panose="020B0604020202020204" pitchFamily="34" charset="0"/>
              <a:buChar char="•"/>
            </a:pPr>
            <a:r>
              <a:rPr lang="en-US" sz="2400" b="1" dirty="0"/>
              <a:t>Prior ASCVD strongly predicted use</a:t>
            </a:r>
            <a:r>
              <a:rPr lang="en-US" sz="2400" dirty="0"/>
              <a:t>, suggesting LLT is still primarily used reactively rather than preventively.</a:t>
            </a:r>
          </a:p>
          <a:p>
            <a:pPr marL="342900" indent="-342900">
              <a:buFont typeface="Arial" panose="020B0604020202020204" pitchFamily="34" charset="0"/>
              <a:buChar char="•"/>
            </a:pPr>
            <a:r>
              <a:rPr lang="en-US" sz="2400" b="1" dirty="0"/>
              <a:t>Improving follow-up and care coordination</a:t>
            </a:r>
            <a:r>
              <a:rPr lang="en-US" sz="2400" dirty="0"/>
              <a:t> during screening could help close prevention gaps and reduce heart disease deaths in cancer survivors.</a:t>
            </a:r>
          </a:p>
          <a:p>
            <a:pPr marL="342900" indent="-342900">
              <a:buFont typeface="Arial" panose="020B0604020202020204" pitchFamily="34" charset="0"/>
              <a:buChar char="•"/>
            </a:pPr>
            <a:endParaRPr lang="en-US" sz="2400" dirty="0"/>
          </a:p>
        </p:txBody>
      </p:sp>
      <p:sp>
        <p:nvSpPr>
          <p:cNvPr id="19" name="TextBox 18">
            <a:extLst>
              <a:ext uri="{FF2B5EF4-FFF2-40B4-BE49-F238E27FC236}">
                <a16:creationId xmlns:a16="http://schemas.microsoft.com/office/drawing/2014/main" id="{4E5295CD-FB0C-F5B9-9E6D-F031BAE589AD}"/>
              </a:ext>
            </a:extLst>
          </p:cNvPr>
          <p:cNvSpPr txBox="1"/>
          <p:nvPr/>
        </p:nvSpPr>
        <p:spPr>
          <a:xfrm>
            <a:off x="33419845" y="5401808"/>
            <a:ext cx="9914766" cy="1446550"/>
          </a:xfrm>
          <a:prstGeom prst="rect">
            <a:avLst/>
          </a:prstGeom>
          <a:solidFill>
            <a:schemeClr val="tx2"/>
          </a:solidFill>
          <a:ln>
            <a:noFill/>
          </a:ln>
        </p:spPr>
        <p:txBody>
          <a:bodyPr wrap="square" lIns="457200" tIns="228600" rIns="457200" bIns="228600" rtlCol="0">
            <a:spAutoFit/>
          </a:bodyPr>
          <a:lstStyle/>
          <a:p>
            <a:r>
              <a:rPr lang="en-US" sz="2800" b="1" dirty="0">
                <a:solidFill>
                  <a:schemeClr val="bg1"/>
                </a:solidFill>
              </a:rPr>
              <a:t>Table 2: </a:t>
            </a:r>
            <a:r>
              <a:rPr lang="en-US" sz="3200" dirty="0">
                <a:solidFill>
                  <a:schemeClr val="bg1"/>
                </a:solidFill>
              </a:rPr>
              <a:t>Multivariable Associated factors of LLT Use Among Cancer Survivors in Lung Cancer Screening</a:t>
            </a:r>
            <a:endParaRPr lang="en-US" sz="3200" b="1" dirty="0">
              <a:solidFill>
                <a:schemeClr val="bg1"/>
              </a:solidFill>
            </a:endParaRPr>
          </a:p>
        </p:txBody>
      </p:sp>
      <p:pic>
        <p:nvPicPr>
          <p:cNvPr id="17" name="Picture 16">
            <a:extLst>
              <a:ext uri="{FF2B5EF4-FFF2-40B4-BE49-F238E27FC236}">
                <a16:creationId xmlns:a16="http://schemas.microsoft.com/office/drawing/2014/main" id="{753F1ABA-04C4-CDDC-6F29-38E268968962}"/>
              </a:ext>
            </a:extLst>
          </p:cNvPr>
          <p:cNvPicPr>
            <a:picLocks noChangeAspect="1"/>
          </p:cNvPicPr>
          <p:nvPr/>
        </p:nvPicPr>
        <p:blipFill rotWithShape="1">
          <a:blip r:embed="rId3"/>
          <a:srcRect t="34913" b="34261"/>
          <a:stretch/>
        </p:blipFill>
        <p:spPr>
          <a:xfrm>
            <a:off x="1084018" y="2426258"/>
            <a:ext cx="8386740" cy="1938992"/>
          </a:xfrm>
          <a:prstGeom prst="rect">
            <a:avLst/>
          </a:prstGeom>
          <a:solidFill>
            <a:schemeClr val="bg1"/>
          </a:solidFill>
        </p:spPr>
      </p:pic>
      <p:sp>
        <p:nvSpPr>
          <p:cNvPr id="6" name="TextBox 35">
            <a:extLst>
              <a:ext uri="{FF2B5EF4-FFF2-40B4-BE49-F238E27FC236}">
                <a16:creationId xmlns:a16="http://schemas.microsoft.com/office/drawing/2014/main" id="{5317242E-8781-374A-A9C4-0133C2615F98}"/>
              </a:ext>
            </a:extLst>
          </p:cNvPr>
          <p:cNvSpPr txBox="1"/>
          <p:nvPr/>
        </p:nvSpPr>
        <p:spPr>
          <a:xfrm>
            <a:off x="578028" y="3513983"/>
            <a:ext cx="42735140"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4800" dirty="0">
                <a:solidFill>
                  <a:schemeClr val="bg1"/>
                </a:solidFill>
              </a:rPr>
              <a:t>Sridharan Gopalsamy Ramaswamy, Benjamin Bowe, Beryne M. </a:t>
            </a:r>
            <a:r>
              <a:rPr lang="en-US" sz="4800" dirty="0" err="1">
                <a:solidFill>
                  <a:schemeClr val="bg1"/>
                </a:solidFill>
              </a:rPr>
              <a:t>Odeny</a:t>
            </a:r>
            <a:endParaRPr lang="en-US" sz="4800" dirty="0">
              <a:solidFill>
                <a:schemeClr val="bg1"/>
              </a:solidFill>
              <a:latin typeface="Source Sans Pro" panose="020B0503030403020204" pitchFamily="34" charset="0"/>
              <a:ea typeface="Source Sans Pro" panose="020B0503030403020204" pitchFamily="34" charset="0"/>
              <a:cs typeface="Open Sans"/>
            </a:endParaRPr>
          </a:p>
        </p:txBody>
      </p:sp>
      <p:sp>
        <p:nvSpPr>
          <p:cNvPr id="24" name="TextBox 23">
            <a:extLst>
              <a:ext uri="{FF2B5EF4-FFF2-40B4-BE49-F238E27FC236}">
                <a16:creationId xmlns:a16="http://schemas.microsoft.com/office/drawing/2014/main" id="{7A1F04D8-7363-8582-81AE-217FED4CF6E4}"/>
              </a:ext>
            </a:extLst>
          </p:cNvPr>
          <p:cNvSpPr txBox="1"/>
          <p:nvPr/>
        </p:nvSpPr>
        <p:spPr>
          <a:xfrm>
            <a:off x="695258" y="21072341"/>
            <a:ext cx="13889538" cy="1384995"/>
          </a:xfrm>
          <a:prstGeom prst="rect">
            <a:avLst/>
          </a:prstGeom>
          <a:noFill/>
        </p:spPr>
        <p:txBody>
          <a:bodyPr wrap="square">
            <a:spAutoFit/>
          </a:bodyPr>
          <a:lstStyle/>
          <a:p>
            <a:pPr algn="l" rtl="0" fontAlgn="base">
              <a:buNone/>
            </a:pPr>
            <a:r>
              <a:rPr lang="en-US" sz="1600" b="0" i="0" dirty="0">
                <a:solidFill>
                  <a:srgbClr val="000000"/>
                </a:solidFill>
                <a:effectLst/>
                <a:latin typeface="Calibri" panose="020F0502020204030204" pitchFamily="34" charset="0"/>
              </a:rPr>
              <a:t>We thank the Alvin J. Siteman Cancer Center at Washington University School of Medicine and Barnes-Jewish Hospital in St. Louis, MO., for the use of the Biostatistics and Qualitative Research Shared Resource, which provided statistical service. The Siteman Cancer Center is supported in part by an NCI Cancer Center Support Grant #P30 CA091842.</a:t>
            </a:r>
          </a:p>
          <a:p>
            <a:pPr>
              <a:buNone/>
            </a:pPr>
            <a:br>
              <a:rPr lang="en-US" dirty="0"/>
            </a:br>
            <a:endParaRPr lang="en-US" dirty="0"/>
          </a:p>
        </p:txBody>
      </p:sp>
      <p:sp>
        <p:nvSpPr>
          <p:cNvPr id="27" name="TextBox 26">
            <a:extLst>
              <a:ext uri="{FF2B5EF4-FFF2-40B4-BE49-F238E27FC236}">
                <a16:creationId xmlns:a16="http://schemas.microsoft.com/office/drawing/2014/main" id="{14D0B936-862A-8069-B0B3-9CFDAD1E7676}"/>
              </a:ext>
            </a:extLst>
          </p:cNvPr>
          <p:cNvSpPr txBox="1"/>
          <p:nvPr/>
        </p:nvSpPr>
        <p:spPr>
          <a:xfrm>
            <a:off x="14983580" y="6402867"/>
            <a:ext cx="8479939" cy="523220"/>
          </a:xfrm>
          <a:prstGeom prst="rect">
            <a:avLst/>
          </a:prstGeom>
          <a:noFill/>
        </p:spPr>
        <p:txBody>
          <a:bodyPr wrap="square" rtlCol="0">
            <a:spAutoFit/>
          </a:bodyPr>
          <a:lstStyle/>
          <a:p>
            <a:r>
              <a:rPr lang="en-US" sz="2800" b="1" dirty="0"/>
              <a:t>Table 1: Demographic characteristics (N=7,778.)</a:t>
            </a:r>
          </a:p>
        </p:txBody>
      </p:sp>
      <p:sp>
        <p:nvSpPr>
          <p:cNvPr id="28" name="TextBox 27">
            <a:extLst>
              <a:ext uri="{FF2B5EF4-FFF2-40B4-BE49-F238E27FC236}">
                <a16:creationId xmlns:a16="http://schemas.microsoft.com/office/drawing/2014/main" id="{7F25C651-0D98-FC11-BD84-3F1FB0F2C2B3}"/>
              </a:ext>
            </a:extLst>
          </p:cNvPr>
          <p:cNvSpPr txBox="1"/>
          <p:nvPr/>
        </p:nvSpPr>
        <p:spPr>
          <a:xfrm>
            <a:off x="14772165" y="20185668"/>
            <a:ext cx="6463884" cy="1631216"/>
          </a:xfrm>
          <a:prstGeom prst="rect">
            <a:avLst/>
          </a:prstGeom>
          <a:noFill/>
        </p:spPr>
        <p:txBody>
          <a:bodyPr wrap="square" rtlCol="0">
            <a:spAutoFit/>
          </a:bodyPr>
          <a:lstStyle/>
          <a:p>
            <a:r>
              <a:rPr lang="en-US" sz="2000" dirty="0"/>
              <a:t>Table 1 abbreviations: ADI = Area Deprivation Index, LLT = Lipid Lowering Therapy, ASCVD = Atherosclerotic Cardiovascular Disease, RUCA = Rural-Urban Commuting Area.</a:t>
            </a:r>
          </a:p>
          <a:p>
            <a:endParaRPr lang="en-US" sz="2000" dirty="0"/>
          </a:p>
        </p:txBody>
      </p:sp>
      <p:sp>
        <p:nvSpPr>
          <p:cNvPr id="32" name="TextBox 31">
            <a:extLst>
              <a:ext uri="{FF2B5EF4-FFF2-40B4-BE49-F238E27FC236}">
                <a16:creationId xmlns:a16="http://schemas.microsoft.com/office/drawing/2014/main" id="{D1535DC7-5632-4EC5-796B-62822AF14EA4}"/>
              </a:ext>
            </a:extLst>
          </p:cNvPr>
          <p:cNvSpPr txBox="1"/>
          <p:nvPr/>
        </p:nvSpPr>
        <p:spPr>
          <a:xfrm>
            <a:off x="33419845" y="12425400"/>
            <a:ext cx="11756472" cy="646331"/>
          </a:xfrm>
          <a:prstGeom prst="rect">
            <a:avLst/>
          </a:prstGeom>
          <a:noFill/>
        </p:spPr>
        <p:txBody>
          <a:bodyPr wrap="square" rtlCol="0">
            <a:spAutoFit/>
          </a:bodyPr>
          <a:lstStyle/>
          <a:p>
            <a:r>
              <a:rPr lang="en-US" dirty="0"/>
              <a:t>Abbreviations: ADI = Area Deprivation Index, CI = Confidence Interval, </a:t>
            </a:r>
          </a:p>
          <a:p>
            <a:endParaRPr lang="en-US" dirty="0"/>
          </a:p>
        </p:txBody>
      </p:sp>
      <p:sp>
        <p:nvSpPr>
          <p:cNvPr id="4" name="TextBox 3">
            <a:extLst>
              <a:ext uri="{FF2B5EF4-FFF2-40B4-BE49-F238E27FC236}">
                <a16:creationId xmlns:a16="http://schemas.microsoft.com/office/drawing/2014/main" id="{01E60AE7-CED2-D02C-FF31-89356C76C994}"/>
              </a:ext>
            </a:extLst>
          </p:cNvPr>
          <p:cNvSpPr txBox="1"/>
          <p:nvPr/>
        </p:nvSpPr>
        <p:spPr>
          <a:xfrm>
            <a:off x="22440101" y="18234466"/>
            <a:ext cx="20899123" cy="1015663"/>
          </a:xfrm>
          <a:prstGeom prst="rect">
            <a:avLst/>
          </a:prstGeom>
          <a:solidFill>
            <a:schemeClr val="tx2"/>
          </a:solidFill>
          <a:ln>
            <a:noFill/>
          </a:ln>
        </p:spPr>
        <p:txBody>
          <a:bodyPr wrap="square" lIns="457200" tIns="228600" rIns="457200" bIns="228600" rtlCol="0">
            <a:spAutoFit/>
          </a:bodyPr>
          <a:lstStyle/>
          <a:p>
            <a:r>
              <a:rPr lang="en-US" sz="3600" b="1" dirty="0">
                <a:solidFill>
                  <a:schemeClr val="bg1"/>
                </a:solidFill>
                <a:latin typeface="Calibri" panose="020F0502020204030204" pitchFamily="34" charset="0"/>
                <a:ea typeface="Source Sans Pro" panose="020B0503030403020204" pitchFamily="34" charset="0"/>
                <a:cs typeface="Open Sans Semibold"/>
              </a:rPr>
              <a:t>Discussion</a:t>
            </a:r>
          </a:p>
        </p:txBody>
      </p:sp>
      <p:graphicFrame>
        <p:nvGraphicFramePr>
          <p:cNvPr id="15" name="Table 14">
            <a:extLst>
              <a:ext uri="{FF2B5EF4-FFF2-40B4-BE49-F238E27FC236}">
                <a16:creationId xmlns:a16="http://schemas.microsoft.com/office/drawing/2014/main" id="{7977D5AF-5DA5-97A0-633A-B6EE60CFB68B}"/>
              </a:ext>
            </a:extLst>
          </p:cNvPr>
          <p:cNvGraphicFramePr>
            <a:graphicFrameLocks noGrp="1"/>
          </p:cNvGraphicFramePr>
          <p:nvPr>
            <p:extLst>
              <p:ext uri="{D42A27DB-BD31-4B8C-83A1-F6EECF244321}">
                <p14:modId xmlns:p14="http://schemas.microsoft.com/office/powerpoint/2010/main" val="1738427334"/>
              </p:ext>
            </p:extLst>
          </p:nvPr>
        </p:nvGraphicFramePr>
        <p:xfrm>
          <a:off x="14800903" y="6949365"/>
          <a:ext cx="7316002" cy="13173653"/>
        </p:xfrm>
        <a:graphic>
          <a:graphicData uri="http://schemas.openxmlformats.org/drawingml/2006/table">
            <a:tbl>
              <a:tblPr firstRow="1" firstCol="1" bandRow="1">
                <a:tableStyleId>{F5AB1C69-6EDB-4FF4-983F-18BD219EF322}</a:tableStyleId>
              </a:tblPr>
              <a:tblGrid>
                <a:gridCol w="2405992">
                  <a:extLst>
                    <a:ext uri="{9D8B030D-6E8A-4147-A177-3AD203B41FA5}">
                      <a16:colId xmlns:a16="http://schemas.microsoft.com/office/drawing/2014/main" val="1655408284"/>
                    </a:ext>
                  </a:extLst>
                </a:gridCol>
                <a:gridCol w="2229113">
                  <a:extLst>
                    <a:ext uri="{9D8B030D-6E8A-4147-A177-3AD203B41FA5}">
                      <a16:colId xmlns:a16="http://schemas.microsoft.com/office/drawing/2014/main" val="2153495303"/>
                    </a:ext>
                  </a:extLst>
                </a:gridCol>
                <a:gridCol w="2680897">
                  <a:extLst>
                    <a:ext uri="{9D8B030D-6E8A-4147-A177-3AD203B41FA5}">
                      <a16:colId xmlns:a16="http://schemas.microsoft.com/office/drawing/2014/main" val="2617433567"/>
                    </a:ext>
                  </a:extLst>
                </a:gridCol>
              </a:tblGrid>
              <a:tr h="437134">
                <a:tc>
                  <a:txBody>
                    <a:bodyPr/>
                    <a:lstStyle/>
                    <a:p>
                      <a:pPr marL="0" marR="0">
                        <a:lnSpc>
                          <a:spcPct val="107000"/>
                        </a:lnSpc>
                        <a:spcAft>
                          <a:spcPts val="800"/>
                        </a:spcAft>
                        <a:buNone/>
                      </a:pPr>
                      <a:r>
                        <a:rPr lang="en-US" sz="2400" kern="100">
                          <a:effectLst/>
                        </a:rPr>
                        <a:t>Variable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Category</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Count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02580321"/>
                  </a:ext>
                </a:extLst>
              </a:tr>
              <a:tr h="437134">
                <a:tc>
                  <a:txBody>
                    <a:bodyPr/>
                    <a:lstStyle/>
                    <a:p>
                      <a:pPr marL="0" marR="0">
                        <a:lnSpc>
                          <a:spcPct val="107000"/>
                        </a:lnSpc>
                        <a:spcAft>
                          <a:spcPts val="800"/>
                        </a:spcAft>
                        <a:buNone/>
                      </a:pPr>
                      <a:r>
                        <a:rPr lang="en-US" sz="2400" kern="100" dirty="0">
                          <a:effectLst/>
                        </a:rPr>
                        <a:t>Age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Above 65</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5,261 (68%)</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06622865"/>
                  </a:ext>
                </a:extLst>
              </a:tr>
              <a:tr h="437134">
                <a:tc>
                  <a:txBody>
                    <a:bodyPr/>
                    <a:lstStyle/>
                    <a:p>
                      <a:pPr marL="0" marR="0">
                        <a:lnSpc>
                          <a:spcPct val="107000"/>
                        </a:lnSpc>
                        <a:spcAft>
                          <a:spcPts val="800"/>
                        </a:spcAft>
                        <a:buNone/>
                      </a:pPr>
                      <a:r>
                        <a:rPr lang="en-US" sz="24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a:effectLst/>
                        </a:rPr>
                        <a:t>Below 65</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2,517 (32%)</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3311398"/>
                  </a:ext>
                </a:extLst>
              </a:tr>
              <a:tr h="437134">
                <a:tc>
                  <a:txBody>
                    <a:bodyPr/>
                    <a:lstStyle/>
                    <a:p>
                      <a:pPr marL="0" marR="0">
                        <a:lnSpc>
                          <a:spcPct val="107000"/>
                        </a:lnSpc>
                        <a:spcAft>
                          <a:spcPts val="800"/>
                        </a:spcAft>
                        <a:buNone/>
                      </a:pPr>
                      <a:r>
                        <a:rPr lang="en-US" sz="2400" kern="100">
                          <a:effectLst/>
                        </a:rPr>
                        <a:t>Sex</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Female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3,955 (51%)</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7955320"/>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Male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3,823 (49%)</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6948688"/>
                  </a:ext>
                </a:extLst>
              </a:tr>
              <a:tr h="437134">
                <a:tc>
                  <a:txBody>
                    <a:bodyPr/>
                    <a:lstStyle/>
                    <a:p>
                      <a:pPr marL="0" marR="0">
                        <a:lnSpc>
                          <a:spcPct val="107000"/>
                        </a:lnSpc>
                        <a:spcAft>
                          <a:spcPts val="800"/>
                        </a:spcAft>
                        <a:buNone/>
                      </a:pPr>
                      <a:r>
                        <a:rPr lang="en-US" sz="2400" kern="100">
                          <a:effectLst/>
                        </a:rPr>
                        <a:t>Insurance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a:effectLst/>
                        </a:rPr>
                        <a:t>Medicaid</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8 (0.1%)</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3424018"/>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Medicare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3,993 (51%)</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6438955"/>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Private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3,785 (49%)</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6945712"/>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Multiple</a:t>
                      </a:r>
                    </a:p>
                  </a:txBody>
                  <a:tcPr marL="68580" marR="68580" marT="0" marB="0"/>
                </a:tc>
                <a:tc>
                  <a:txBody>
                    <a:bodyPr/>
                    <a:lstStyle/>
                    <a:p>
                      <a:pPr marL="0" marR="0">
                        <a:lnSpc>
                          <a:spcPct val="107000"/>
                        </a:lnSpc>
                        <a:spcAft>
                          <a:spcPts val="800"/>
                        </a:spcAft>
                        <a:buNone/>
                      </a:pPr>
                      <a:r>
                        <a:rPr lang="en-US" sz="2400" kern="100" dirty="0">
                          <a:effectLst/>
                        </a:rPr>
                        <a:t>796 (10%)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4652806"/>
                  </a:ext>
                </a:extLst>
              </a:tr>
              <a:tr h="437134">
                <a:tc>
                  <a:txBody>
                    <a:bodyPr/>
                    <a:lstStyle/>
                    <a:p>
                      <a:pPr marL="0" marR="0">
                        <a:lnSpc>
                          <a:spcPct val="107000"/>
                        </a:lnSpc>
                        <a:spcAft>
                          <a:spcPts val="800"/>
                        </a:spcAft>
                        <a:buNone/>
                      </a:pPr>
                      <a:r>
                        <a:rPr lang="en-US" sz="2400" kern="100">
                          <a:effectLst/>
                        </a:rPr>
                        <a:t>Race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a:effectLst/>
                        </a:rPr>
                        <a:t>Black</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1,264 (16%)</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690929"/>
                  </a:ext>
                </a:extLst>
              </a:tr>
              <a:tr h="437134">
                <a:tc>
                  <a:txBody>
                    <a:bodyPr/>
                    <a:lstStyle/>
                    <a:p>
                      <a:pPr marL="0" marR="0">
                        <a:lnSpc>
                          <a:spcPct val="107000"/>
                        </a:lnSpc>
                        <a:spcAft>
                          <a:spcPts val="800"/>
                        </a:spcAft>
                        <a:buNone/>
                      </a:pPr>
                      <a:r>
                        <a:rPr lang="en-US" sz="24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a:effectLst/>
                        </a:rPr>
                        <a:t>White</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6,433 (89%)</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1924674"/>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Asian</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44 (1%)</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231609"/>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Other</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37 (&lt;1%)</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2348534"/>
                  </a:ext>
                </a:extLst>
              </a:tr>
              <a:tr h="437134">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Prior ASCVD</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Yes</a:t>
                      </a:r>
                    </a:p>
                  </a:txBody>
                  <a:tcPr marL="68580" marR="68580" marT="0" marB="0"/>
                </a:tc>
                <a:tc>
                  <a:txBody>
                    <a:bodyPr/>
                    <a:lstStyle/>
                    <a:p>
                      <a:pPr marL="0" marR="0">
                        <a:lnSpc>
                          <a:spcPct val="107000"/>
                        </a:lnSpc>
                        <a:spcAft>
                          <a:spcPts val="800"/>
                        </a:spcAft>
                        <a:buNone/>
                      </a:pPr>
                      <a:r>
                        <a:rPr lang="en-US" sz="2400" kern="100" dirty="0">
                          <a:effectLst/>
                        </a:rPr>
                        <a:t>3,367 (43%)</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6268546"/>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No</a:t>
                      </a:r>
                    </a:p>
                  </a:txBody>
                  <a:tcPr marL="68580" marR="68580" marT="0" marB="0"/>
                </a:tc>
                <a:tc>
                  <a:txBody>
                    <a:bodyPr/>
                    <a:lstStyle/>
                    <a:p>
                      <a:pPr marL="0" marR="0">
                        <a:lnSpc>
                          <a:spcPct val="107000"/>
                        </a:lnSpc>
                        <a:spcAft>
                          <a:spcPts val="800"/>
                        </a:spcAft>
                        <a:buNone/>
                      </a:pPr>
                      <a:r>
                        <a:rPr lang="en-US" sz="2400" kern="100" dirty="0">
                          <a:effectLst/>
                        </a:rPr>
                        <a:t>4,411 (57%)</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0328727"/>
                  </a:ext>
                </a:extLst>
              </a:tr>
              <a:tr h="393267">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Cancer Type</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Lung</a:t>
                      </a:r>
                    </a:p>
                  </a:txBody>
                  <a:tcPr marL="68580" marR="68580" marT="0" marB="0"/>
                </a:tc>
                <a:tc>
                  <a:txBody>
                    <a:bodyPr/>
                    <a:lstStyle/>
                    <a:p>
                      <a:pPr marL="0" marR="0">
                        <a:lnSpc>
                          <a:spcPct val="107000"/>
                        </a:lnSpc>
                        <a:spcAft>
                          <a:spcPts val="800"/>
                        </a:spcAft>
                        <a:buNone/>
                      </a:pPr>
                      <a:r>
                        <a:rPr lang="en-US" sz="2400" kern="100" dirty="0">
                          <a:effectLst/>
                        </a:rPr>
                        <a:t>933 (17%)</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084241"/>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Breast</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1,303 </a:t>
                      </a:r>
                      <a:r>
                        <a:rPr lang="en-US" sz="2400" kern="100" dirty="0">
                          <a:effectLst/>
                        </a:rPr>
                        <a:t>(10%)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3877318"/>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Prostate</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575 </a:t>
                      </a:r>
                      <a:r>
                        <a:rPr lang="en-US" sz="2400" kern="100" dirty="0">
                          <a:effectLst/>
                        </a:rPr>
                        <a:t>(7%)</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905888"/>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Hematologic</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343 </a:t>
                      </a:r>
                      <a:r>
                        <a:rPr lang="en-US" sz="2400" kern="100" dirty="0">
                          <a:effectLst/>
                        </a:rPr>
                        <a:t>(4%)</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442263"/>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Colorectal</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216 </a:t>
                      </a:r>
                      <a:r>
                        <a:rPr lang="en-US" sz="2400" kern="100" dirty="0">
                          <a:effectLst/>
                        </a:rPr>
                        <a:t>(3%)</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6467355"/>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Other solid</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3,148 </a:t>
                      </a:r>
                      <a:r>
                        <a:rPr lang="en-US" sz="2400" kern="100" dirty="0">
                          <a:effectLst/>
                        </a:rPr>
                        <a:t>(40%)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1205948"/>
                  </a:ext>
                </a:extLst>
              </a:tr>
              <a:tr h="393267">
                <a:tc>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Multiple</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1,398 </a:t>
                      </a:r>
                      <a:r>
                        <a:rPr lang="en-US" sz="2400" kern="100" dirty="0">
                          <a:effectLst/>
                        </a:rPr>
                        <a:t>(18%)</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6787547"/>
                  </a:ext>
                </a:extLst>
              </a:tr>
              <a:tr h="437134">
                <a:tc>
                  <a:txBody>
                    <a:bodyPr/>
                    <a:lstStyle/>
                    <a:p>
                      <a:pPr marL="0" marR="0">
                        <a:lnSpc>
                          <a:spcPct val="107000"/>
                        </a:lnSpc>
                        <a:spcAft>
                          <a:spcPts val="800"/>
                        </a:spcAft>
                        <a:buNone/>
                      </a:pPr>
                      <a:r>
                        <a:rPr lang="en-US" sz="2400" kern="100">
                          <a:effectLst/>
                        </a:rPr>
                        <a:t>Rural/Urban</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Rural</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1,306 (17%)</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0511625"/>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a:effectLst/>
                        </a:rPr>
                        <a:t>Urban</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Aft>
                          <a:spcPts val="800"/>
                        </a:spcAft>
                        <a:buNone/>
                      </a:pPr>
                      <a:r>
                        <a:rPr lang="en-US" sz="2400" kern="100" dirty="0">
                          <a:effectLst/>
                        </a:rPr>
                        <a:t>6,472 (83%)</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8790209"/>
                  </a:ext>
                </a:extLst>
              </a:tr>
              <a:tr h="437134">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LLT status</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On LLT</a:t>
                      </a:r>
                    </a:p>
                  </a:txBody>
                  <a:tcPr marL="68580" marR="68580" marT="0" marB="0"/>
                </a:tc>
                <a:tc>
                  <a:txBody>
                    <a:bodyPr/>
                    <a:lstStyle/>
                    <a:p>
                      <a:pPr marL="0" marR="0">
                        <a:lnSpc>
                          <a:spcPct val="107000"/>
                        </a:lnSpc>
                        <a:spcAft>
                          <a:spcPts val="800"/>
                        </a:spcAft>
                        <a:buNone/>
                      </a:pPr>
                      <a:r>
                        <a:rPr lang="en-US" sz="2400" kern="100" dirty="0">
                          <a:effectLst/>
                        </a:rPr>
                        <a:t>5,115 (66%)</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5722433"/>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Not on LLT</a:t>
                      </a:r>
                    </a:p>
                  </a:txBody>
                  <a:tcPr marL="68580" marR="68580" marT="0" marB="0"/>
                </a:tc>
                <a:tc>
                  <a:txBody>
                    <a:bodyPr/>
                    <a:lstStyle/>
                    <a:p>
                      <a:pPr marL="0" marR="0">
                        <a:lnSpc>
                          <a:spcPct val="107000"/>
                        </a:lnSpc>
                        <a:spcAft>
                          <a:spcPts val="800"/>
                        </a:spcAft>
                        <a:buNone/>
                      </a:pPr>
                      <a:r>
                        <a:rPr lang="en-US" sz="2400" kern="100" dirty="0">
                          <a:effectLst/>
                        </a:rPr>
                        <a:t>2663 (34%)</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0127813"/>
                  </a:ext>
                </a:extLst>
              </a:tr>
              <a:tr h="425230">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ADI</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Q1 (Least)</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1,442(19%)</a:t>
                      </a:r>
                    </a:p>
                  </a:txBody>
                  <a:tcPr marL="68580" marR="68580" marT="0" marB="0"/>
                </a:tc>
                <a:extLst>
                  <a:ext uri="{0D108BD9-81ED-4DB2-BD59-A6C34878D82A}">
                    <a16:rowId xmlns:a16="http://schemas.microsoft.com/office/drawing/2014/main" val="2212075010"/>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Q2</a:t>
                      </a:r>
                    </a:p>
                  </a:txBody>
                  <a:tcPr marL="68580" marR="68580" marT="0" marB="0"/>
                </a:tc>
                <a:tc>
                  <a:txBody>
                    <a:bodyPr/>
                    <a:lstStyle/>
                    <a:p>
                      <a:pPr marL="0" marR="0">
                        <a:lnSpc>
                          <a:spcPct val="107000"/>
                        </a:lnSpc>
                        <a:spcAft>
                          <a:spcPts val="800"/>
                        </a:spcAft>
                        <a:buNone/>
                      </a:pPr>
                      <a:r>
                        <a:rPr lang="en-US" sz="2400" kern="100" dirty="0">
                          <a:effectLst/>
                        </a:rPr>
                        <a:t>1,493 (19%)</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8398195"/>
                  </a:ext>
                </a:extLst>
              </a:tr>
              <a:tr h="378606">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Q3</a:t>
                      </a:r>
                    </a:p>
                  </a:txBody>
                  <a:tcPr marL="68580" marR="68580" marT="0" marB="0" anchor="b"/>
                </a:tc>
                <a:tc>
                  <a:txBody>
                    <a:bodyPr/>
                    <a:lstStyle/>
                    <a:p>
                      <a:pPr marL="0" marR="0">
                        <a:lnSpc>
                          <a:spcPct val="107000"/>
                        </a:lnSpc>
                        <a:spcAft>
                          <a:spcPts val="800"/>
                        </a:spcAft>
                        <a:buNone/>
                      </a:pPr>
                      <a:r>
                        <a:rPr lang="en-US" sz="2400" kern="100" dirty="0">
                          <a:effectLst/>
                        </a:rPr>
                        <a:t>1,579 (20%)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72557474"/>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Q4</a:t>
                      </a:r>
                    </a:p>
                  </a:txBody>
                  <a:tcPr marL="68580" marR="68580" marT="0" marB="0" anchor="b"/>
                </a:tc>
                <a:tc>
                  <a:txBody>
                    <a:bodyPr/>
                    <a:lstStyle/>
                    <a:p>
                      <a:pPr marL="0" marR="0">
                        <a:lnSpc>
                          <a:spcPct val="107000"/>
                        </a:lnSpc>
                        <a:spcAft>
                          <a:spcPts val="800"/>
                        </a:spcAft>
                        <a:buNone/>
                      </a:pPr>
                      <a:r>
                        <a:rPr lang="en-US" sz="2400" kern="100" dirty="0">
                          <a:effectLst/>
                        </a:rPr>
                        <a:t>1,569 (20%)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566495512"/>
                  </a:ext>
                </a:extLst>
              </a:tr>
              <a:tr h="437134">
                <a:tc>
                  <a:txBody>
                    <a:bodyPr/>
                    <a:lstStyle/>
                    <a:p>
                      <a:endParaRPr lang="en-US" sz="2400" kern="100">
                        <a:effectLst/>
                        <a:latin typeface="Aptos" panose="020B0004020202020204" pitchFamily="34" charset="0"/>
                      </a:endParaRP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Q5 (Most)</a:t>
                      </a:r>
                    </a:p>
                  </a:txBody>
                  <a:tcPr marL="68580" marR="68580" marT="0" marB="0" anchor="b"/>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1,695(22%)</a:t>
                      </a:r>
                    </a:p>
                  </a:txBody>
                  <a:tcPr marL="68580" marR="68580" marT="0" marB="0" anchor="b"/>
                </a:tc>
                <a:extLst>
                  <a:ext uri="{0D108BD9-81ED-4DB2-BD59-A6C34878D82A}">
                    <a16:rowId xmlns:a16="http://schemas.microsoft.com/office/drawing/2014/main" val="445369252"/>
                  </a:ext>
                </a:extLst>
              </a:tr>
            </a:tbl>
          </a:graphicData>
        </a:graphic>
      </p:graphicFrame>
      <p:graphicFrame>
        <p:nvGraphicFramePr>
          <p:cNvPr id="25" name="Table 24">
            <a:extLst>
              <a:ext uri="{FF2B5EF4-FFF2-40B4-BE49-F238E27FC236}">
                <a16:creationId xmlns:a16="http://schemas.microsoft.com/office/drawing/2014/main" id="{2A71774D-2379-732A-940D-6358F58F9BEF}"/>
              </a:ext>
            </a:extLst>
          </p:cNvPr>
          <p:cNvGraphicFramePr>
            <a:graphicFrameLocks noGrp="1"/>
          </p:cNvGraphicFramePr>
          <p:nvPr>
            <p:extLst>
              <p:ext uri="{D42A27DB-BD31-4B8C-83A1-F6EECF244321}">
                <p14:modId xmlns:p14="http://schemas.microsoft.com/office/powerpoint/2010/main" val="2981669619"/>
              </p:ext>
            </p:extLst>
          </p:nvPr>
        </p:nvGraphicFramePr>
        <p:xfrm>
          <a:off x="33419845" y="6755134"/>
          <a:ext cx="9919380" cy="5677219"/>
        </p:xfrm>
        <a:graphic>
          <a:graphicData uri="http://schemas.openxmlformats.org/drawingml/2006/table">
            <a:tbl>
              <a:tblPr firstRow="1" firstCol="1" bandRow="1">
                <a:tableStyleId>{F5AB1C69-6EDB-4FF4-983F-18BD219EF322}</a:tableStyleId>
              </a:tblPr>
              <a:tblGrid>
                <a:gridCol w="4745697">
                  <a:extLst>
                    <a:ext uri="{9D8B030D-6E8A-4147-A177-3AD203B41FA5}">
                      <a16:colId xmlns:a16="http://schemas.microsoft.com/office/drawing/2014/main" val="630682759"/>
                    </a:ext>
                  </a:extLst>
                </a:gridCol>
                <a:gridCol w="1483030">
                  <a:extLst>
                    <a:ext uri="{9D8B030D-6E8A-4147-A177-3AD203B41FA5}">
                      <a16:colId xmlns:a16="http://schemas.microsoft.com/office/drawing/2014/main" val="3844401036"/>
                    </a:ext>
                  </a:extLst>
                </a:gridCol>
                <a:gridCol w="2046581">
                  <a:extLst>
                    <a:ext uri="{9D8B030D-6E8A-4147-A177-3AD203B41FA5}">
                      <a16:colId xmlns:a16="http://schemas.microsoft.com/office/drawing/2014/main" val="2923990905"/>
                    </a:ext>
                  </a:extLst>
                </a:gridCol>
                <a:gridCol w="1644072">
                  <a:extLst>
                    <a:ext uri="{9D8B030D-6E8A-4147-A177-3AD203B41FA5}">
                      <a16:colId xmlns:a16="http://schemas.microsoft.com/office/drawing/2014/main" val="4169812274"/>
                    </a:ext>
                  </a:extLst>
                </a:gridCol>
              </a:tblGrid>
              <a:tr h="332822">
                <a:tc>
                  <a:txBody>
                    <a:bodyPr/>
                    <a:lstStyle/>
                    <a:p>
                      <a:pPr marL="0" marR="0">
                        <a:lnSpc>
                          <a:spcPct val="115000"/>
                        </a:lnSpc>
                        <a:spcAft>
                          <a:spcPts val="800"/>
                        </a:spcAft>
                        <a:buNone/>
                      </a:pPr>
                      <a:r>
                        <a:rPr lang="en-US" sz="2400" b="0" kern="100" dirty="0">
                          <a:effectLst/>
                        </a:rPr>
                        <a:t>Variable</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OR</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a:effectLst/>
                        </a:rPr>
                        <a:t>95% CI</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a:effectLst/>
                        </a:rPr>
                        <a:t>p-value</a:t>
                      </a:r>
                      <a:endParaRPr lang="en-US" sz="2400" b="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2041366"/>
                  </a:ext>
                </a:extLst>
              </a:tr>
              <a:tr h="333564">
                <a:tc>
                  <a:txBody>
                    <a:bodyPr/>
                    <a:lstStyle/>
                    <a:p>
                      <a:pPr marL="0" marR="0">
                        <a:spcBef>
                          <a:spcPts val="500"/>
                        </a:spcBef>
                        <a:spcAft>
                          <a:spcPts val="500"/>
                        </a:spcAft>
                        <a:buNone/>
                      </a:pPr>
                      <a:r>
                        <a:rPr lang="en-US" sz="2400" b="1" dirty="0">
                          <a:solidFill>
                            <a:schemeClr val="bg1"/>
                          </a:solidFill>
                          <a:effectLst/>
                          <a:latin typeface="Cambria" panose="02040503050406030204" pitchFamily="18" charset="0"/>
                          <a:ea typeface="Times New Roman" panose="02020603050405020304" pitchFamily="18" charset="0"/>
                          <a:cs typeface="Arial" panose="020B0604020202020204" pitchFamily="34" charset="0"/>
                        </a:rPr>
                        <a:t>Demographics</a:t>
                      </a:r>
                    </a:p>
                  </a:txBody>
                  <a:tcPr marL="0" marR="0" marT="0" marB="0" anchor="ctr"/>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5481947"/>
                  </a:ext>
                </a:extLst>
              </a:tr>
              <a:tr h="333564">
                <a:tc>
                  <a:txBody>
                    <a:bodyPr/>
                    <a:lstStyle/>
                    <a:p>
                      <a:pPr marL="0" marR="0">
                        <a:spcBef>
                          <a:spcPts val="500"/>
                        </a:spcBef>
                        <a:spcAft>
                          <a:spcPts val="500"/>
                        </a:spcAft>
                        <a:buNone/>
                      </a:pPr>
                      <a:r>
                        <a:rPr lang="en-US" sz="2400" b="0" dirty="0">
                          <a:solidFill>
                            <a:schemeClr val="bg1"/>
                          </a:solidFill>
                          <a:effectLst/>
                          <a:latin typeface="Arial" panose="020B0604020202020204" pitchFamily="34" charset="0"/>
                          <a:ea typeface="Arial" panose="020B0604020202020204" pitchFamily="34" charset="0"/>
                          <a:cs typeface="Arial" panose="020B0604020202020204" pitchFamily="34" charset="0"/>
                        </a:rPr>
                        <a:t>Age ≥65 vs &lt;65</a:t>
                      </a:r>
                      <a:endParaRPr lang="en-US" sz="2400" b="0" dirty="0">
                        <a:solidFill>
                          <a:schemeClr val="bg1"/>
                        </a:solidFill>
                        <a:effectLst/>
                        <a:latin typeface="Cambria" panose="020405030504060302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1.41</a:t>
                      </a:r>
                    </a:p>
                  </a:txBody>
                  <a:tcPr marL="68580" marR="68580" marT="0" marB="0"/>
                </a:tc>
                <a:tc>
                  <a:txBody>
                    <a:bodyPr/>
                    <a:lstStyle/>
                    <a:p>
                      <a:pPr marL="0" marR="0">
                        <a:lnSpc>
                          <a:spcPct val="115000"/>
                        </a:lnSpc>
                        <a:spcAft>
                          <a:spcPts val="800"/>
                        </a:spcAft>
                        <a:buNone/>
                      </a:pPr>
                      <a:r>
                        <a:rPr lang="en-US" sz="2400" b="0" kern="100" dirty="0">
                          <a:effectLst/>
                        </a:rPr>
                        <a:t>(1.26 - 1.58)</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&lt;0.001</a:t>
                      </a:r>
                    </a:p>
                  </a:txBody>
                  <a:tcPr marL="68580" marR="68580" marT="0" marB="0"/>
                </a:tc>
                <a:extLst>
                  <a:ext uri="{0D108BD9-81ED-4DB2-BD59-A6C34878D82A}">
                    <a16:rowId xmlns:a16="http://schemas.microsoft.com/office/drawing/2014/main" val="2965840423"/>
                  </a:ext>
                </a:extLst>
              </a:tr>
              <a:tr h="332822">
                <a:tc>
                  <a:txBody>
                    <a:bodyPr/>
                    <a:lstStyle/>
                    <a:p>
                      <a:pPr marL="0" marR="0">
                        <a:lnSpc>
                          <a:spcPct val="115000"/>
                        </a:lnSpc>
                        <a:spcAft>
                          <a:spcPts val="800"/>
                        </a:spcAft>
                        <a:buNone/>
                      </a:pPr>
                      <a:r>
                        <a:rPr lang="en-US" sz="2400" b="0" kern="1200" dirty="0">
                          <a:solidFill>
                            <a:schemeClr val="lt1"/>
                          </a:solidFill>
                          <a:effectLst/>
                          <a:latin typeface="+mn-lt"/>
                          <a:ea typeface="+mn-ea"/>
                          <a:cs typeface="+mn-cs"/>
                        </a:rPr>
                        <a:t>Male vs Female</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1.10</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(0.99, 1.22)</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0.082</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548613"/>
                  </a:ext>
                </a:extLst>
              </a:tr>
              <a:tr h="484754">
                <a:tc>
                  <a:txBody>
                    <a:bodyPr/>
                    <a:lstStyle/>
                    <a:p>
                      <a:pPr marL="0" marR="0" lvl="0" indent="0" algn="l" defTabSz="2926080" rtl="0" eaLnBrk="1" fontAlgn="auto" latinLnBrk="0" hangingPunct="1">
                        <a:lnSpc>
                          <a:spcPct val="115000"/>
                        </a:lnSpc>
                        <a:spcBef>
                          <a:spcPts val="0"/>
                        </a:spcBef>
                        <a:spcAft>
                          <a:spcPts val="800"/>
                        </a:spcAft>
                        <a:buClrTx/>
                        <a:buSzTx/>
                        <a:buFontTx/>
                        <a:buNone/>
                        <a:tabLst/>
                        <a:defRPr/>
                      </a:pPr>
                      <a:r>
                        <a:rPr lang="en-US" sz="2400" b="0" kern="1200" dirty="0">
                          <a:solidFill>
                            <a:schemeClr val="lt1"/>
                          </a:solidFill>
                          <a:effectLst/>
                          <a:latin typeface="+mn-lt"/>
                          <a:ea typeface="+mn-ea"/>
                          <a:cs typeface="+mn-cs"/>
                        </a:rPr>
                        <a:t>Race (Overall)</a:t>
                      </a:r>
                      <a:endParaRPr lang="en-US" sz="2400" b="0" kern="100" dirty="0">
                        <a:solidFill>
                          <a:schemeClr val="lt1"/>
                        </a:solidFill>
                        <a:effectLst/>
                        <a:latin typeface="+mn-lt"/>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0" kern="100" dirty="0">
                          <a:solidFill>
                            <a:schemeClr val="dk1"/>
                          </a:solidFill>
                          <a:effectLst/>
                          <a:latin typeface="+mn-lt"/>
                          <a:ea typeface="Aptos" panose="020B0004020202020204" pitchFamily="34" charset="0"/>
                          <a:cs typeface="Times New Roman" panose="02020603050405020304" pitchFamily="18" charset="0"/>
                        </a:rPr>
                        <a:t>---</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0" kern="100" dirty="0">
                          <a:solidFill>
                            <a:schemeClr val="dk1"/>
                          </a:solidFill>
                          <a:effectLst/>
                          <a:latin typeface="+mn-lt"/>
                          <a:ea typeface="Aptos" panose="020B0004020202020204" pitchFamily="34" charset="0"/>
                          <a:cs typeface="Times New Roman" panose="02020603050405020304" pitchFamily="18" charset="0"/>
                        </a:rPr>
                        <a:t>---</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0" kern="100" dirty="0">
                          <a:solidFill>
                            <a:schemeClr val="dk1"/>
                          </a:solidFill>
                          <a:effectLst/>
                          <a:latin typeface="+mn-lt"/>
                          <a:ea typeface="Aptos" panose="020B0004020202020204" pitchFamily="34" charset="0"/>
                          <a:cs typeface="Times New Roman" panose="02020603050405020304" pitchFamily="18" charset="0"/>
                        </a:rPr>
                        <a:t>0.601</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4780965"/>
                  </a:ext>
                </a:extLst>
              </a:tr>
              <a:tr h="330279">
                <a:tc>
                  <a:txBody>
                    <a:bodyPr/>
                    <a:lstStyle/>
                    <a:p>
                      <a:pPr marL="0" marR="0">
                        <a:lnSpc>
                          <a:spcPct val="115000"/>
                        </a:lnSpc>
                        <a:spcAft>
                          <a:spcPts val="800"/>
                        </a:spcAft>
                        <a:buNone/>
                      </a:pPr>
                      <a:r>
                        <a:rPr lang="en-US" sz="2400" b="1" kern="100" dirty="0">
                          <a:effectLst/>
                          <a:latin typeface="+mj-lt"/>
                          <a:ea typeface="Aptos" panose="020B0004020202020204" pitchFamily="34" charset="0"/>
                          <a:cs typeface="Times New Roman" panose="02020603050405020304" pitchFamily="18" charset="0"/>
                        </a:rPr>
                        <a:t>Clinical Factors</a:t>
                      </a:r>
                    </a:p>
                  </a:txBody>
                  <a:tcPr marL="68580" marR="68580" marT="0" marB="0"/>
                </a:tc>
                <a:tc>
                  <a:txBody>
                    <a:bodyPr/>
                    <a:lstStyle/>
                    <a:p>
                      <a:pPr marL="0" marR="0">
                        <a:lnSpc>
                          <a:spcPct val="115000"/>
                        </a:lnSpc>
                        <a:spcAft>
                          <a:spcPts val="800"/>
                        </a:spcAft>
                        <a:buNone/>
                      </a:pPr>
                      <a:r>
                        <a:rPr lang="en-US" sz="2400" b="0" kern="100" dirty="0">
                          <a:effectLst/>
                          <a:latin typeface="+mj-lt"/>
                          <a:ea typeface="Aptos" panose="020B0004020202020204" pitchFamily="34" charset="0"/>
                          <a:cs typeface="Times New Roman" panose="02020603050405020304" pitchFamily="18" charset="0"/>
                        </a:rPr>
                        <a:t>        </a:t>
                      </a:r>
                      <a:endParaRPr lang="en-US" sz="6000" b="0" kern="100" dirty="0">
                        <a:effectLst/>
                        <a:latin typeface="+mj-lt"/>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mj-lt"/>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mj-lt"/>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85323279"/>
                  </a:ext>
                </a:extLst>
              </a:tr>
              <a:tr h="333564">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Prior ASCVD (Yes vs No)</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2.54</a:t>
                      </a:r>
                    </a:p>
                  </a:txBody>
                  <a:tcPr marL="68580" marR="68580" marT="0" marB="0"/>
                </a:tc>
                <a:tc>
                  <a:txBody>
                    <a:bodyPr/>
                    <a:lstStyle/>
                    <a:p>
                      <a:pPr marL="0" marR="0">
                        <a:lnSpc>
                          <a:spcPct val="115000"/>
                        </a:lnSpc>
                        <a:spcAft>
                          <a:spcPts val="800"/>
                        </a:spcAft>
                        <a:buNone/>
                      </a:pPr>
                      <a:r>
                        <a:rPr lang="en-US" sz="2400" b="0" kern="100" dirty="0">
                          <a:effectLst/>
                        </a:rPr>
                        <a:t>(2.29, 2.81)</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&lt;0.001</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2264339"/>
                  </a:ext>
                </a:extLst>
              </a:tr>
              <a:tr h="333564">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Cancer: Prostate vs Lung</a:t>
                      </a:r>
                    </a:p>
                  </a:txBody>
                  <a:tcPr marL="68580" marR="68580" marT="0" marB="0"/>
                </a:tc>
                <a:tc>
                  <a:txBody>
                    <a:bodyPr/>
                    <a:lstStyle/>
                    <a:p>
                      <a:pPr marL="0" marR="0">
                        <a:lnSpc>
                          <a:spcPct val="115000"/>
                        </a:lnSpc>
                        <a:spcAft>
                          <a:spcPts val="800"/>
                        </a:spcAft>
                        <a:buNone/>
                      </a:pPr>
                      <a:r>
                        <a:rPr lang="en-US" sz="2400" b="0" kern="100" dirty="0">
                          <a:effectLst/>
                        </a:rPr>
                        <a:t>1.35</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dirty="0">
                          <a:effectLst/>
                        </a:rPr>
                        <a:t>(1.03, 1.76)</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2400" b="0" kern="100">
                          <a:effectLst/>
                        </a:rPr>
                        <a:t>0.013</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1688965"/>
                  </a:ext>
                </a:extLst>
              </a:tr>
              <a:tr h="333564">
                <a:tc>
                  <a:txBody>
                    <a:bodyPr/>
                    <a:lstStyle/>
                    <a:p>
                      <a:pPr marL="0" marR="0" lvl="0" indent="0" algn="l" defTabSz="2926080" rtl="0" eaLnBrk="1" fontAlgn="auto" latinLnBrk="0" hangingPunct="1">
                        <a:lnSpc>
                          <a:spcPct val="115000"/>
                        </a:lnSpc>
                        <a:spcBef>
                          <a:spcPts val="0"/>
                        </a:spcBef>
                        <a:spcAft>
                          <a:spcPts val="800"/>
                        </a:spcAft>
                        <a:buClrTx/>
                        <a:buSzTx/>
                        <a:buFontTx/>
                        <a:buNone/>
                        <a:tabLst/>
                        <a:defRPr/>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Cancer: Hematologic vs Lung</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1.35</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(1.08-1.71)</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0.009</a:t>
                      </a:r>
                    </a:p>
                  </a:txBody>
                  <a:tcPr marL="68580" marR="68580" marT="0" marB="0"/>
                </a:tc>
                <a:extLst>
                  <a:ext uri="{0D108BD9-81ED-4DB2-BD59-A6C34878D82A}">
                    <a16:rowId xmlns:a16="http://schemas.microsoft.com/office/drawing/2014/main" val="1827328044"/>
                  </a:ext>
                </a:extLst>
              </a:tr>
              <a:tr h="333564">
                <a:tc>
                  <a:txBody>
                    <a:bodyPr/>
                    <a:lstStyle/>
                    <a:p>
                      <a:pPr marL="0" marR="0" lvl="0" indent="0" algn="l" defTabSz="2926080" rtl="0" eaLnBrk="1" fontAlgn="auto" latinLnBrk="0" hangingPunct="1">
                        <a:lnSpc>
                          <a:spcPct val="115000"/>
                        </a:lnSpc>
                        <a:spcBef>
                          <a:spcPts val="0"/>
                        </a:spcBef>
                        <a:spcAft>
                          <a:spcPts val="800"/>
                        </a:spcAft>
                        <a:buClrTx/>
                        <a:buSzTx/>
                        <a:buFontTx/>
                        <a:buNone/>
                        <a:tabLst/>
                        <a:defRPr/>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Cancer: Other solid vs Lung</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1.23</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(1.07-1.42)</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0.004</a:t>
                      </a:r>
                    </a:p>
                  </a:txBody>
                  <a:tcPr marL="68580" marR="68580" marT="0" marB="0"/>
                </a:tc>
                <a:extLst>
                  <a:ext uri="{0D108BD9-81ED-4DB2-BD59-A6C34878D82A}">
                    <a16:rowId xmlns:a16="http://schemas.microsoft.com/office/drawing/2014/main" val="3931483483"/>
                  </a:ext>
                </a:extLst>
              </a:tr>
              <a:tr h="333564">
                <a:tc>
                  <a:txBody>
                    <a:bodyPr/>
                    <a:lstStyle/>
                    <a:p>
                      <a:pPr marL="0" marR="0" lvl="0" indent="0" algn="l" defTabSz="2926080" rtl="0" eaLnBrk="1" fontAlgn="auto" latinLnBrk="0" hangingPunct="1">
                        <a:lnSpc>
                          <a:spcPct val="115000"/>
                        </a:lnSpc>
                        <a:spcBef>
                          <a:spcPts val="0"/>
                        </a:spcBef>
                        <a:spcAft>
                          <a:spcPts val="800"/>
                        </a:spcAft>
                        <a:buClrTx/>
                        <a:buSzTx/>
                        <a:buFontTx/>
                        <a:buNone/>
                        <a:tabLst/>
                        <a:defRPr/>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Social Determinants</a:t>
                      </a:r>
                    </a:p>
                  </a:txBody>
                  <a:tcPr marL="68580" marR="68580" marT="0" marB="0"/>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2644144"/>
                  </a:ext>
                </a:extLst>
              </a:tr>
              <a:tr h="333564">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Rural Vs Urban</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0.71</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(0.62-0.82)</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&lt;0.001</a:t>
                      </a:r>
                    </a:p>
                  </a:txBody>
                  <a:tcPr marL="68580" marR="68580" marT="0" marB="0"/>
                </a:tc>
                <a:extLst>
                  <a:ext uri="{0D108BD9-81ED-4DB2-BD59-A6C34878D82A}">
                    <a16:rowId xmlns:a16="http://schemas.microsoft.com/office/drawing/2014/main" val="95070701"/>
                  </a:ext>
                </a:extLst>
              </a:tr>
              <a:tr h="333564">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Insurance (overall)</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0.313</a:t>
                      </a:r>
                    </a:p>
                  </a:txBody>
                  <a:tcPr marL="68580" marR="68580" marT="0" marB="0"/>
                </a:tc>
                <a:extLst>
                  <a:ext uri="{0D108BD9-81ED-4DB2-BD59-A6C34878D82A}">
                    <a16:rowId xmlns:a16="http://schemas.microsoft.com/office/drawing/2014/main" val="3343990088"/>
                  </a:ext>
                </a:extLst>
              </a:tr>
              <a:tr h="333564">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ADI Quintile (overall)</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a:t>
                      </a:r>
                    </a:p>
                  </a:txBody>
                  <a:tcPr marL="68580" marR="68580" marT="0" marB="0"/>
                </a:tc>
                <a:tc>
                  <a:txBody>
                    <a:bodyPr/>
                    <a:lstStyle/>
                    <a:p>
                      <a:pPr marL="0" marR="0">
                        <a:lnSpc>
                          <a:spcPct val="115000"/>
                        </a:lnSpc>
                        <a:spcAft>
                          <a:spcPts val="800"/>
                        </a:spcAft>
                        <a:buNone/>
                      </a:pPr>
                      <a:r>
                        <a:rPr lang="en-US" sz="2400" b="0" kern="100" dirty="0">
                          <a:effectLst/>
                          <a:latin typeface="Aptos" panose="020B0004020202020204" pitchFamily="34" charset="0"/>
                          <a:ea typeface="Aptos" panose="020B0004020202020204" pitchFamily="34" charset="0"/>
                          <a:cs typeface="Times New Roman" panose="02020603050405020304" pitchFamily="18" charset="0"/>
                        </a:rPr>
                        <a:t> 0.292</a:t>
                      </a:r>
                    </a:p>
                  </a:txBody>
                  <a:tcPr marL="68580" marR="68580" marT="0" marB="0"/>
                </a:tc>
                <a:extLst>
                  <a:ext uri="{0D108BD9-81ED-4DB2-BD59-A6C34878D82A}">
                    <a16:rowId xmlns:a16="http://schemas.microsoft.com/office/drawing/2014/main" val="3738220960"/>
                  </a:ext>
                </a:extLst>
              </a:tr>
            </a:tbl>
          </a:graphicData>
        </a:graphic>
      </p:graphicFrame>
      <p:graphicFrame>
        <p:nvGraphicFramePr>
          <p:cNvPr id="29" name="Table 28">
            <a:extLst>
              <a:ext uri="{FF2B5EF4-FFF2-40B4-BE49-F238E27FC236}">
                <a16:creationId xmlns:a16="http://schemas.microsoft.com/office/drawing/2014/main" id="{7261B099-1B32-391F-32D8-155DD5AAD763}"/>
              </a:ext>
            </a:extLst>
          </p:cNvPr>
          <p:cNvGraphicFramePr>
            <a:graphicFrameLocks noGrp="1"/>
          </p:cNvGraphicFramePr>
          <p:nvPr>
            <p:extLst>
              <p:ext uri="{D42A27DB-BD31-4B8C-83A1-F6EECF244321}">
                <p14:modId xmlns:p14="http://schemas.microsoft.com/office/powerpoint/2010/main" val="2309667736"/>
              </p:ext>
            </p:extLst>
          </p:nvPr>
        </p:nvGraphicFramePr>
        <p:xfrm>
          <a:off x="33424459" y="14576459"/>
          <a:ext cx="9874755" cy="3341015"/>
        </p:xfrm>
        <a:graphic>
          <a:graphicData uri="http://schemas.openxmlformats.org/drawingml/2006/table">
            <a:tbl>
              <a:tblPr firstRow="1" firstCol="1" bandRow="1">
                <a:tableStyleId>{F5AB1C69-6EDB-4FF4-983F-18BD219EF322}</a:tableStyleId>
              </a:tblPr>
              <a:tblGrid>
                <a:gridCol w="1986745">
                  <a:extLst>
                    <a:ext uri="{9D8B030D-6E8A-4147-A177-3AD203B41FA5}">
                      <a16:colId xmlns:a16="http://schemas.microsoft.com/office/drawing/2014/main" val="3803168027"/>
                    </a:ext>
                  </a:extLst>
                </a:gridCol>
                <a:gridCol w="1987756">
                  <a:extLst>
                    <a:ext uri="{9D8B030D-6E8A-4147-A177-3AD203B41FA5}">
                      <a16:colId xmlns:a16="http://schemas.microsoft.com/office/drawing/2014/main" val="1579219297"/>
                    </a:ext>
                  </a:extLst>
                </a:gridCol>
                <a:gridCol w="1448077">
                  <a:extLst>
                    <a:ext uri="{9D8B030D-6E8A-4147-A177-3AD203B41FA5}">
                      <a16:colId xmlns:a16="http://schemas.microsoft.com/office/drawing/2014/main" val="518091496"/>
                    </a:ext>
                  </a:extLst>
                </a:gridCol>
                <a:gridCol w="2148563">
                  <a:extLst>
                    <a:ext uri="{9D8B030D-6E8A-4147-A177-3AD203B41FA5}">
                      <a16:colId xmlns:a16="http://schemas.microsoft.com/office/drawing/2014/main" val="417874192"/>
                    </a:ext>
                  </a:extLst>
                </a:gridCol>
                <a:gridCol w="2303614">
                  <a:extLst>
                    <a:ext uri="{9D8B030D-6E8A-4147-A177-3AD203B41FA5}">
                      <a16:colId xmlns:a16="http://schemas.microsoft.com/office/drawing/2014/main" val="1350632043"/>
                    </a:ext>
                  </a:extLst>
                </a:gridCol>
              </a:tblGrid>
              <a:tr h="659159">
                <a:tc>
                  <a:txBody>
                    <a:bodyPr/>
                    <a:lstStyle/>
                    <a:p>
                      <a:pPr marL="0" marR="0">
                        <a:lnSpc>
                          <a:spcPct val="107000"/>
                        </a:lnSpc>
                        <a:spcAft>
                          <a:spcPts val="800"/>
                        </a:spcAft>
                        <a:buNone/>
                      </a:pPr>
                      <a:r>
                        <a:rPr lang="en-US" sz="2400" kern="100" dirty="0">
                          <a:effectLst/>
                        </a:rPr>
                        <a:t>Variable</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2">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Black (n=1,264)</a:t>
                      </a:r>
                      <a:endParaRPr lang="en-US" sz="2400" kern="100" dirty="0">
                        <a:effectLst/>
                        <a:latin typeface="Aptos" panose="020B0004020202020204" pitchFamily="34" charset="0"/>
                        <a:cs typeface="Times New Roman" panose="02020603050405020304" pitchFamily="18" charset="0"/>
                      </a:endParaRPr>
                    </a:p>
                  </a:txBody>
                  <a:tcPr marL="68580" marR="68580" marT="0" marB="0"/>
                </a:tc>
                <a:tc hMerge="1">
                  <a:txBody>
                    <a:bodyPr/>
                    <a:lstStyle/>
                    <a:p>
                      <a:endParaRPr dirty="0"/>
                    </a:p>
                  </a:txBody>
                  <a:tcPr marL="68580" marR="68580" marT="0" marB="0"/>
                </a:tc>
                <a:tc gridSpan="2">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White (n=6,433)</a:t>
                      </a:r>
                    </a:p>
                  </a:txBody>
                  <a:tcPr marL="68580" marR="68580" marT="0" marB="0"/>
                </a:tc>
                <a:tc hMerge="1">
                  <a:txBody>
                    <a:bodyPr/>
                    <a:lstStyle/>
                    <a:p>
                      <a:pPr marL="0" marR="0">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4904549"/>
                  </a:ext>
                </a:extLst>
              </a:tr>
              <a:tr h="645942">
                <a:tc>
                  <a:txBody>
                    <a:bodyPr/>
                    <a:lstStyle/>
                    <a:p>
                      <a:pPr>
                        <a:buNone/>
                      </a:pPr>
                      <a:endParaRPr lang="en-US" sz="2400" dirty="0">
                        <a:effectLst/>
                      </a:endParaRPr>
                    </a:p>
                  </a:txBody>
                  <a:tcPr marL="60960" marR="60960" marT="60960" marB="60960" anchor="ctr"/>
                </a:tc>
                <a:tc>
                  <a:txBody>
                    <a:bodyPr/>
                    <a:lstStyle/>
                    <a:p>
                      <a:pPr algn="ctr">
                        <a:buNone/>
                      </a:pPr>
                      <a:r>
                        <a:rPr lang="en-US" sz="2400" dirty="0">
                          <a:effectLst/>
                        </a:rPr>
                        <a:t>OR</a:t>
                      </a:r>
                    </a:p>
                  </a:txBody>
                  <a:tcPr marL="60960" marR="60960" marT="60960" marB="60960" anchor="ctr"/>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P</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OR</a:t>
                      </a:r>
                    </a:p>
                  </a:txBody>
                  <a:tcPr marL="68580" marR="68580" marT="0" marB="0"/>
                </a:tc>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P</a:t>
                      </a:r>
                    </a:p>
                  </a:txBody>
                  <a:tcPr marL="68580" marR="68580" marT="0" marB="0"/>
                </a:tc>
                <a:extLst>
                  <a:ext uri="{0D108BD9-81ED-4DB2-BD59-A6C34878D82A}">
                    <a16:rowId xmlns:a16="http://schemas.microsoft.com/office/drawing/2014/main" val="1735888294"/>
                  </a:ext>
                </a:extLst>
              </a:tr>
              <a:tr h="645942">
                <a:tc>
                  <a:txBody>
                    <a:bodyPr/>
                    <a:lstStyle/>
                    <a:p>
                      <a:pPr>
                        <a:buNone/>
                      </a:pPr>
                      <a:r>
                        <a:rPr lang="en-US" sz="2400" dirty="0">
                          <a:effectLst/>
                        </a:rPr>
                        <a:t>Age ≥65</a:t>
                      </a:r>
                    </a:p>
                  </a:txBody>
                  <a:tcPr marL="60960" marR="60960" marT="60960" marB="60960" anchor="ctr"/>
                </a:tc>
                <a:tc>
                  <a:txBody>
                    <a:bodyPr/>
                    <a:lstStyle/>
                    <a:p>
                      <a:pPr algn="ctr">
                        <a:buNone/>
                      </a:pPr>
                      <a:r>
                        <a:rPr lang="en-US" sz="2400" b="1" dirty="0">
                          <a:effectLst/>
                          <a:latin typeface="+mn-lt"/>
                        </a:rPr>
                        <a:t>                 1.51</a:t>
                      </a:r>
                      <a:r>
                        <a:rPr lang="en-US" sz="2000" b="1" dirty="0">
                          <a:effectLst/>
                          <a:latin typeface="+mn-lt"/>
                        </a:rPr>
                        <a:t> </a:t>
                      </a:r>
                      <a:r>
                        <a:rPr lang="en-US" sz="2400" b="1" dirty="0">
                          <a:effectLst/>
                          <a:latin typeface="+mn-lt"/>
                        </a:rPr>
                        <a:t>                </a:t>
                      </a:r>
                    </a:p>
                  </a:txBody>
                  <a:tcPr marL="60960" marR="60960" marT="60960" marB="60960" anchor="ctr"/>
                </a:tc>
                <a:tc>
                  <a:txBody>
                    <a:bodyPr/>
                    <a:lstStyle/>
                    <a:p>
                      <a:pPr marL="0" marR="0" algn="ctr">
                        <a:lnSpc>
                          <a:spcPct val="107000"/>
                        </a:lnSpc>
                        <a:spcAft>
                          <a:spcPts val="800"/>
                        </a:spcAft>
                        <a:buNone/>
                      </a:pPr>
                      <a:r>
                        <a:rPr lang="en-US" sz="2400" b="1" kern="100" dirty="0">
                          <a:effectLst/>
                          <a:latin typeface="+mn-lt"/>
                        </a:rPr>
                        <a:t>0.004</a:t>
                      </a:r>
                      <a:endParaRPr lang="en-US" sz="2400" b="1" kern="100" dirty="0">
                        <a:effectLst/>
                        <a:latin typeface="+mn-lt"/>
                        <a:ea typeface="Aptos" panose="020B0004020202020204" pitchFamily="34" charset="0"/>
                        <a:cs typeface="Times New Roman" panose="02020603050405020304" pitchFamily="18" charset="0"/>
                      </a:endParaRPr>
                    </a:p>
                  </a:txBody>
                  <a:tcPr marL="68580" marR="68580" marT="0" marB="0"/>
                </a:tc>
                <a:tc>
                  <a:txBody>
                    <a:bodyPr/>
                    <a:lstStyle/>
                    <a:p>
                      <a:pPr marL="0" marR="0" algn="ctr">
                        <a:lnSpc>
                          <a:spcPct val="107000"/>
                        </a:lnSpc>
                        <a:spcAft>
                          <a:spcPts val="800"/>
                        </a:spcAft>
                        <a:buNone/>
                      </a:pPr>
                      <a:r>
                        <a:rPr lang="en-US" sz="2400" b="1" kern="100" dirty="0">
                          <a:effectLst/>
                          <a:latin typeface="+mn-lt"/>
                          <a:ea typeface="Aptos" panose="020B0004020202020204" pitchFamily="34" charset="0"/>
                          <a:cs typeface="Times New Roman" panose="02020603050405020304" pitchFamily="18" charset="0"/>
                        </a:rPr>
                        <a:t>1.39</a:t>
                      </a:r>
                    </a:p>
                  </a:txBody>
                  <a:tcPr marL="68580" marR="68580" marT="0" marB="0"/>
                </a:tc>
                <a:tc>
                  <a:txBody>
                    <a:bodyPr/>
                    <a:lstStyle/>
                    <a:p>
                      <a:pPr marL="0" marR="0" algn="ctr">
                        <a:lnSpc>
                          <a:spcPct val="107000"/>
                        </a:lnSpc>
                        <a:spcAft>
                          <a:spcPts val="800"/>
                        </a:spcAft>
                        <a:buNone/>
                      </a:pPr>
                      <a:r>
                        <a:rPr lang="en-US" sz="2400" b="1" kern="100" dirty="0">
                          <a:effectLst/>
                          <a:latin typeface="+mn-lt"/>
                          <a:ea typeface="Aptos" panose="020B0004020202020204" pitchFamily="34" charset="0"/>
                          <a:cs typeface="Times New Roman" panose="02020603050405020304" pitchFamily="18" charset="0"/>
                        </a:rPr>
                        <a:t>&lt;0.001</a:t>
                      </a:r>
                    </a:p>
                  </a:txBody>
                  <a:tcPr marL="68580" marR="68580" marT="0" marB="0"/>
                </a:tc>
                <a:extLst>
                  <a:ext uri="{0D108BD9-81ED-4DB2-BD59-A6C34878D82A}">
                    <a16:rowId xmlns:a16="http://schemas.microsoft.com/office/drawing/2014/main" val="2877183035"/>
                  </a:ext>
                </a:extLst>
              </a:tr>
              <a:tr h="463324">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Male sex</a:t>
                      </a:r>
                    </a:p>
                  </a:txBody>
                  <a:tcPr marL="68580" marR="68580" marT="0" marB="0"/>
                </a:tc>
                <a:tc>
                  <a:txBody>
                    <a:bodyPr/>
                    <a:lstStyle/>
                    <a:p>
                      <a:pPr marL="0" marR="0" algn="ctr">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1.0</a:t>
                      </a:r>
                    </a:p>
                  </a:txBody>
                  <a:tcPr marL="68580" marR="68580" marT="0" marB="0"/>
                </a:tc>
                <a:tc>
                  <a:txBody>
                    <a:bodyPr/>
                    <a:lstStyle/>
                    <a:p>
                      <a:pPr marL="0" marR="0" algn="ctr">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&gt;0.9</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1.13</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0.036</a:t>
                      </a:r>
                    </a:p>
                  </a:txBody>
                  <a:tcPr marL="68580" marR="68580" marT="0" marB="0"/>
                </a:tc>
                <a:extLst>
                  <a:ext uri="{0D108BD9-81ED-4DB2-BD59-A6C34878D82A}">
                    <a16:rowId xmlns:a16="http://schemas.microsoft.com/office/drawing/2014/main" val="2737572772"/>
                  </a:ext>
                </a:extLst>
              </a:tr>
              <a:tr h="463324">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Prior ASCVD</a:t>
                      </a:r>
                    </a:p>
                  </a:txBody>
                  <a:tcPr marL="68580" marR="68580" marT="0" marB="0"/>
                </a:tc>
                <a:tc>
                  <a:txBody>
                    <a:bodyPr/>
                    <a:lstStyle/>
                    <a:p>
                      <a:pPr marL="0" marR="0" algn="ctr">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b="1" kern="100" dirty="0">
                          <a:effectLst/>
                          <a:latin typeface="Aptos" panose="020B0004020202020204" pitchFamily="34" charset="0"/>
                          <a:ea typeface="Aptos" panose="020B0004020202020204" pitchFamily="34" charset="0"/>
                          <a:cs typeface="Times New Roman" panose="02020603050405020304" pitchFamily="18" charset="0"/>
                        </a:rPr>
                        <a:t>2.64</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&lt;0.001</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2.51</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&lt;0.001</a:t>
                      </a:r>
                    </a:p>
                  </a:txBody>
                  <a:tcPr marL="68580" marR="68580" marT="0" marB="0"/>
                </a:tc>
                <a:extLst>
                  <a:ext uri="{0D108BD9-81ED-4DB2-BD59-A6C34878D82A}">
                    <a16:rowId xmlns:a16="http://schemas.microsoft.com/office/drawing/2014/main" val="1228842326"/>
                  </a:ext>
                </a:extLst>
              </a:tr>
              <a:tr h="463324">
                <a:tc>
                  <a:txBody>
                    <a:bodyPr/>
                    <a:lstStyle/>
                    <a:p>
                      <a:pPr marL="0" marR="0">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Rural</a:t>
                      </a:r>
                    </a:p>
                  </a:txBody>
                  <a:tcPr marL="68580" marR="68580" marT="0" marB="0"/>
                </a:tc>
                <a:tc>
                  <a:txBody>
                    <a:bodyPr/>
                    <a:lstStyle/>
                    <a:p>
                      <a:pPr marL="0" marR="0" algn="ctr">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0.54</a:t>
                      </a:r>
                    </a:p>
                  </a:txBody>
                  <a:tcPr marL="68580" marR="68580" marT="0" marB="0"/>
                </a:tc>
                <a:tc>
                  <a:txBody>
                    <a:bodyPr/>
                    <a:lstStyle/>
                    <a:p>
                      <a:pPr marL="0" marR="0" algn="ctr">
                        <a:lnSpc>
                          <a:spcPct val="107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0.3</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0.81</a:t>
                      </a:r>
                    </a:p>
                  </a:txBody>
                  <a:tcPr marL="68580" marR="68580" marT="0" marB="0"/>
                </a:tc>
                <a:tc>
                  <a:txBody>
                    <a:bodyPr/>
                    <a:lstStyle/>
                    <a:p>
                      <a:pPr marL="0" marR="0" algn="ctr">
                        <a:lnSpc>
                          <a:spcPct val="107000"/>
                        </a:lnSpc>
                        <a:spcAft>
                          <a:spcPts val="800"/>
                        </a:spcAft>
                        <a:buNone/>
                      </a:pPr>
                      <a:r>
                        <a:rPr lang="en-US" sz="2400" b="1" kern="100" dirty="0">
                          <a:effectLst/>
                          <a:latin typeface="Aptos" panose="020B0004020202020204" pitchFamily="34" charset="0"/>
                          <a:ea typeface="Aptos" panose="020B0004020202020204" pitchFamily="34" charset="0"/>
                          <a:cs typeface="Times New Roman" panose="02020603050405020304" pitchFamily="18" charset="0"/>
                        </a:rPr>
                        <a:t>0.005</a:t>
                      </a:r>
                    </a:p>
                  </a:txBody>
                  <a:tcPr marL="68580" marR="68580" marT="0" marB="0"/>
                </a:tc>
                <a:extLst>
                  <a:ext uri="{0D108BD9-81ED-4DB2-BD59-A6C34878D82A}">
                    <a16:rowId xmlns:a16="http://schemas.microsoft.com/office/drawing/2014/main" val="3690804084"/>
                  </a:ext>
                </a:extLst>
              </a:tr>
            </a:tbl>
          </a:graphicData>
        </a:graphic>
      </p:graphicFrame>
      <p:sp>
        <p:nvSpPr>
          <p:cNvPr id="18" name="TextBox 17">
            <a:extLst>
              <a:ext uri="{FF2B5EF4-FFF2-40B4-BE49-F238E27FC236}">
                <a16:creationId xmlns:a16="http://schemas.microsoft.com/office/drawing/2014/main" id="{394B8009-1CAC-A47C-12E3-0AE762DFA37B}"/>
              </a:ext>
            </a:extLst>
          </p:cNvPr>
          <p:cNvSpPr txBox="1"/>
          <p:nvPr/>
        </p:nvSpPr>
        <p:spPr>
          <a:xfrm>
            <a:off x="33424459" y="13129909"/>
            <a:ext cx="9914766" cy="1446550"/>
          </a:xfrm>
          <a:prstGeom prst="rect">
            <a:avLst/>
          </a:prstGeom>
          <a:solidFill>
            <a:schemeClr val="tx2"/>
          </a:solidFill>
          <a:ln>
            <a:noFill/>
          </a:ln>
        </p:spPr>
        <p:txBody>
          <a:bodyPr wrap="square" lIns="457200" tIns="228600" rIns="457200" bIns="228600" rtlCol="0">
            <a:spAutoFit/>
          </a:bodyPr>
          <a:lstStyle/>
          <a:p>
            <a:r>
              <a:rPr lang="en-US" sz="2800" b="1" dirty="0">
                <a:solidFill>
                  <a:schemeClr val="bg1"/>
                </a:solidFill>
              </a:rPr>
              <a:t>Table 3: </a:t>
            </a:r>
            <a:r>
              <a:rPr lang="en-US" sz="3200" dirty="0">
                <a:solidFill>
                  <a:schemeClr val="bg1"/>
                </a:solidFill>
              </a:rPr>
              <a:t>Race-Stratified Analysis of Key LLT Predictors</a:t>
            </a:r>
            <a:endParaRPr lang="en-US" sz="3200" b="1" dirty="0">
              <a:solidFill>
                <a:schemeClr val="bg1"/>
              </a:solidFill>
            </a:endParaRPr>
          </a:p>
          <a:p>
            <a:endParaRPr lang="en-US" sz="3200" b="1" dirty="0">
              <a:solidFill>
                <a:schemeClr val="bg1"/>
              </a:solidFill>
            </a:endParaRPr>
          </a:p>
        </p:txBody>
      </p:sp>
      <p:pic>
        <p:nvPicPr>
          <p:cNvPr id="38" name="Picture 37">
            <a:extLst>
              <a:ext uri="{FF2B5EF4-FFF2-40B4-BE49-F238E27FC236}">
                <a16:creationId xmlns:a16="http://schemas.microsoft.com/office/drawing/2014/main" id="{4D3FC6D3-47B1-17E5-CEE5-6ACA2F4F3987}"/>
              </a:ext>
            </a:extLst>
          </p:cNvPr>
          <p:cNvPicPr>
            <a:picLocks noChangeAspect="1"/>
          </p:cNvPicPr>
          <p:nvPr/>
        </p:nvPicPr>
        <p:blipFill>
          <a:blip r:embed="rId4"/>
          <a:stretch>
            <a:fillRect/>
          </a:stretch>
        </p:blipFill>
        <p:spPr>
          <a:xfrm>
            <a:off x="22421505" y="5429201"/>
            <a:ext cx="10662973" cy="5783734"/>
          </a:xfrm>
          <a:prstGeom prst="rect">
            <a:avLst/>
          </a:prstGeom>
        </p:spPr>
      </p:pic>
      <p:pic>
        <p:nvPicPr>
          <p:cNvPr id="42" name="Picture 41">
            <a:extLst>
              <a:ext uri="{FF2B5EF4-FFF2-40B4-BE49-F238E27FC236}">
                <a16:creationId xmlns:a16="http://schemas.microsoft.com/office/drawing/2014/main" id="{F0FB902C-64C2-38F8-B503-4DE4FC90D19E}"/>
              </a:ext>
            </a:extLst>
          </p:cNvPr>
          <p:cNvPicPr>
            <a:picLocks noChangeAspect="1"/>
          </p:cNvPicPr>
          <p:nvPr/>
        </p:nvPicPr>
        <p:blipFill>
          <a:blip r:embed="rId5"/>
          <a:stretch>
            <a:fillRect/>
          </a:stretch>
        </p:blipFill>
        <p:spPr>
          <a:xfrm>
            <a:off x="22452272" y="11514458"/>
            <a:ext cx="10662972" cy="6380373"/>
          </a:xfrm>
          <a:prstGeom prst="rect">
            <a:avLst/>
          </a:prstGeom>
        </p:spPr>
      </p:pic>
    </p:spTree>
    <p:extLst>
      <p:ext uri="{BB962C8B-B14F-4D97-AF65-F5344CB8AC3E}">
        <p14:creationId xmlns:p14="http://schemas.microsoft.com/office/powerpoint/2010/main" val="2375310532"/>
      </p:ext>
    </p:extLst>
  </p:cSld>
  <p:clrMapOvr>
    <a:masterClrMapping/>
  </p:clrMapOvr>
</p:sld>
</file>

<file path=ppt/theme/theme1.xml><?xml version="1.0" encoding="utf-8"?>
<a:theme xmlns:a="http://schemas.openxmlformats.org/drawingml/2006/main" name="Office Theme">
  <a:themeElements>
    <a:clrScheme name="WashU Medicine 4">
      <a:dk1>
        <a:srgbClr val="000000"/>
      </a:dk1>
      <a:lt1>
        <a:srgbClr val="FFFFFF"/>
      </a:lt1>
      <a:dk2>
        <a:srgbClr val="BA0C2F"/>
      </a:dk2>
      <a:lt2>
        <a:srgbClr val="D7D2CB"/>
      </a:lt2>
      <a:accent1>
        <a:srgbClr val="BA0C2F"/>
      </a:accent1>
      <a:accent2>
        <a:srgbClr val="D9D9D9"/>
      </a:accent2>
      <a:accent3>
        <a:srgbClr val="205732"/>
      </a:accent3>
      <a:accent4>
        <a:srgbClr val="B5E2D7"/>
      </a:accent4>
      <a:accent5>
        <a:srgbClr val="404040"/>
      </a:accent5>
      <a:accent6>
        <a:srgbClr val="007D8A"/>
      </a:accent6>
      <a:hlink>
        <a:srgbClr val="BA0C2F"/>
      </a:hlink>
      <a:folHlink>
        <a:srgbClr val="BA0C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49eaedf-a20f-467d-bb1a-610910bb18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95C00B73F1CB44B89A21CB02A39C9B" ma:contentTypeVersion="13" ma:contentTypeDescription="Create a new document." ma:contentTypeScope="" ma:versionID="0a167cb6a615276a8ae90a46595efddb">
  <xsd:schema xmlns:xsd="http://www.w3.org/2001/XMLSchema" xmlns:xs="http://www.w3.org/2001/XMLSchema" xmlns:p="http://schemas.microsoft.com/office/2006/metadata/properties" xmlns:ns3="c49eaedf-a20f-467d-bb1a-610910bb1879" xmlns:ns4="f48e5fbe-6cb6-426f-a6ce-27c75b819af1" targetNamespace="http://schemas.microsoft.com/office/2006/metadata/properties" ma:root="true" ma:fieldsID="b20dbe5550bc9f4dd8c5189116491c0e" ns3:_="" ns4:_="">
    <xsd:import namespace="c49eaedf-a20f-467d-bb1a-610910bb1879"/>
    <xsd:import namespace="f48e5fbe-6cb6-426f-a6ce-27c75b819af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_activity"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9eaedf-a20f-467d-bb1a-610910bb18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48e5fbe-6cb6-426f-a6ce-27c75b819af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1F43DE-83AA-4F61-8A5C-715B91728CE7}">
  <ds:schemaRefs>
    <ds:schemaRef ds:uri="c49eaedf-a20f-467d-bb1a-610910bb1879"/>
    <ds:schemaRef ds:uri="http://schemas.microsoft.com/office/infopath/2007/PartnerControls"/>
    <ds:schemaRef ds:uri="http://purl.org/dc/terms/"/>
    <ds:schemaRef ds:uri="f48e5fbe-6cb6-426f-a6ce-27c75b819af1"/>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610276-3D7F-41ED-95D2-9320385D6590}">
  <ds:schemaRefs>
    <ds:schemaRef ds:uri="http://schemas.microsoft.com/sharepoint/v3/contenttype/forms"/>
  </ds:schemaRefs>
</ds:datastoreItem>
</file>

<file path=customXml/itemProps3.xml><?xml version="1.0" encoding="utf-8"?>
<ds:datastoreItem xmlns:ds="http://schemas.openxmlformats.org/officeDocument/2006/customXml" ds:itemID="{A08EB19E-8B66-48C9-A1CA-4D8119A327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9eaedf-a20f-467d-bb1a-610910bb1879"/>
    <ds:schemaRef ds:uri="f48e5fbe-6cb6-426f-a6ce-27c75b819a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7063</TotalTime>
  <Words>972</Words>
  <Application>Microsoft Office PowerPoint</Application>
  <PresentationFormat>Custom</PresentationFormat>
  <Paragraphs>181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Cambria</vt:lpstr>
      <vt:lpstr>Source Sans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Worful, Michael</dc:creator>
  <cp:lastModifiedBy>Gopalsamy Ramaswamy, Sridharan</cp:lastModifiedBy>
  <cp:revision>57</cp:revision>
  <dcterms:created xsi:type="dcterms:W3CDTF">2022-04-12T20:14:10Z</dcterms:created>
  <dcterms:modified xsi:type="dcterms:W3CDTF">2025-10-09T17:09:33Z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0x0101009F95C00B73F1CB44B89A21CB02A39C9B</vt:lpwstr>
  </property>
</Properties>
</file>